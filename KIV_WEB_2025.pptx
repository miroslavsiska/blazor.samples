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46"/>
  </p:notesMasterIdLst>
  <p:handoutMasterIdLst>
    <p:handoutMasterId r:id="rId47"/>
  </p:handoutMasterIdLst>
  <p:sldIdLst>
    <p:sldId id="302" r:id="rId5"/>
    <p:sldId id="307" r:id="rId6"/>
    <p:sldId id="308" r:id="rId7"/>
    <p:sldId id="303" r:id="rId8"/>
    <p:sldId id="326" r:id="rId9"/>
    <p:sldId id="357" r:id="rId10"/>
    <p:sldId id="356" r:id="rId11"/>
    <p:sldId id="328" r:id="rId12"/>
    <p:sldId id="358" r:id="rId13"/>
    <p:sldId id="354" r:id="rId14"/>
    <p:sldId id="355" r:id="rId15"/>
    <p:sldId id="318" r:id="rId16"/>
    <p:sldId id="334" r:id="rId17"/>
    <p:sldId id="335" r:id="rId18"/>
    <p:sldId id="316" r:id="rId19"/>
    <p:sldId id="333" r:id="rId20"/>
    <p:sldId id="312" r:id="rId21"/>
    <p:sldId id="336" r:id="rId22"/>
    <p:sldId id="353" r:id="rId23"/>
    <p:sldId id="352" r:id="rId24"/>
    <p:sldId id="317" r:id="rId25"/>
    <p:sldId id="313" r:id="rId26"/>
    <p:sldId id="339" r:id="rId27"/>
    <p:sldId id="314" r:id="rId28"/>
    <p:sldId id="348" r:id="rId29"/>
    <p:sldId id="349" r:id="rId30"/>
    <p:sldId id="342" r:id="rId31"/>
    <p:sldId id="340" r:id="rId32"/>
    <p:sldId id="341" r:id="rId33"/>
    <p:sldId id="343" r:id="rId34"/>
    <p:sldId id="344" r:id="rId35"/>
    <p:sldId id="345" r:id="rId36"/>
    <p:sldId id="346" r:id="rId37"/>
    <p:sldId id="347" r:id="rId38"/>
    <p:sldId id="350" r:id="rId39"/>
    <p:sldId id="351" r:id="rId40"/>
    <p:sldId id="306" r:id="rId41"/>
    <p:sldId id="362" r:id="rId42"/>
    <p:sldId id="361" r:id="rId43"/>
    <p:sldId id="360" r:id="rId44"/>
    <p:sldId id="35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DC59B-173E-4D35-AE0F-A8E8591F0F16}" v="3346" dt="2025-11-25T10:52:23.875"/>
    <p1510:client id="{E0295135-BE98-4DBD-AC0B-51BE61001AF5}" v="1501" dt="2025-11-24T13:53:32.063"/>
  </p1510:revLst>
</p1510:revInfo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4961F7-6090-4DBB-A96E-13A56992B5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ABF560-741B-4951-8EEE-36B6663803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178AE-FC91-4C9B-8A77-C0DC33903791}" type="datetime1">
              <a:rPr lang="de-DE" smtClean="0"/>
              <a:t>24.11.2025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8D995C-1F1A-4CAD-B817-B4D4D4A133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4854A0-AB5C-40CD-AA73-80B0EAFF24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34B519-000C-4B69-B927-3AB63A83306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490893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80259-0F6B-484D-B29C-5EFBD2CD6F3D}" type="datetime1">
              <a:rPr lang="de-DE" smtClean="0"/>
              <a:t>24.11.2025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2"/>
            <a:r>
              <a:rPr lang="de-DE"/>
              <a:t>Zweite Ebene</a:t>
            </a:r>
          </a:p>
          <a:p>
            <a:pPr lvl="3"/>
            <a:r>
              <a:rPr lang="de-DE"/>
              <a:t>Dritte Ebene</a:t>
            </a:r>
          </a:p>
          <a:p>
            <a:pPr lvl="4"/>
            <a:r>
              <a:rPr lang="de-DE"/>
              <a:t>Vierte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55861-3FBA-441A-A268-AE6467B53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085800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171450" indent="-171450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79388" indent="-179388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8775" indent="-179388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39750" indent="-171450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19138" indent="-171450" algn="l" defTabSz="914400" rtl="0" eaLnBrk="1" latinLnBrk="0" hangingPunct="1"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D60104-FD92-4EDA-9116-48B27656CD3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92F206D-0B10-424D-B4D6-C35683385F79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344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Podobně jako třeba wifi modem z </a:t>
            </a:r>
            <a:r>
              <a:rPr lang="cs-CZ" err="1"/>
              <a:t>datartu</a:t>
            </a:r>
            <a:r>
              <a:rPr lang="cs-CZ"/>
              <a:t> i naše senzory mají konfigurační rozhraní</a:t>
            </a:r>
          </a:p>
          <a:p>
            <a:r>
              <a:rPr lang="cs-CZ"/>
              <a:t>Konfiguruje se optika, laser, rozpoznávání obrazu</a:t>
            </a:r>
          </a:p>
          <a:p>
            <a:r>
              <a:rPr lang="cs-CZ"/>
              <a:t>Některá zařízení se prodávají už přes deset let</a:t>
            </a:r>
          </a:p>
          <a:p>
            <a:r>
              <a:rPr lang="cs-CZ"/>
              <a:t>Stále přicházejí nová zařízení</a:t>
            </a:r>
          </a:p>
          <a:p>
            <a:r>
              <a:rPr lang="cs-CZ"/>
              <a:t>K těm poskytujeme konzultace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56A6C1-EAE9-475B-A573-BC21220ADA33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9676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Takhle vypadá původní webConfig</a:t>
            </a:r>
          </a:p>
          <a:p>
            <a:r>
              <a:rPr lang="cs-CZ"/>
              <a:t>Zastaralý design i technologie</a:t>
            </a:r>
            <a:endParaRPr lang="en-US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81574F2-BA64-4DE1-AF5F-A6B62C4A5D04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186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Několik základních řad</a:t>
            </a:r>
          </a:p>
          <a:p>
            <a:r>
              <a:rPr lang="cs-CZ"/>
              <a:t>Každá řada může mít i stovky konfigurací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FD05FDC-D88F-4685-8E5C-A643B6FD694A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767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cs-CZ"/>
              <a:t>Hlavní omezení: HW možnosti sensoru – musíme se s webovkou vejít do 8 MB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FCBC204-B322-49F6-91C6-0CA297882402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789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Kvůli novému webConfigu vznikla GUI knihovna</a:t>
            </a:r>
          </a:p>
          <a:p>
            <a:r>
              <a:rPr lang="cs-CZ"/>
              <a:t>Knihovna grafických prvků pro účely webového vývoje</a:t>
            </a:r>
          </a:p>
          <a:p>
            <a:r>
              <a:rPr lang="cs-CZ"/>
              <a:t>To, co vidíte, je kitchensink: Jedna dokumentace pro vývojáře i pro uživatele</a:t>
            </a:r>
          </a:p>
          <a:p>
            <a:r>
              <a:rPr lang="cs-CZ"/>
              <a:t>Interní webovka, kterou si každý může otevřít</a:t>
            </a:r>
            <a:endParaRPr lang="en-US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A23900-C608-4406-B775-1C922D4CAD7A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31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75FCE40-8BB1-4DF7-B4F4-976EF1A7BC88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234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cs-CZ"/>
              <a:t>Pokud by vás zajímaly možnosti letní praxe, dlouhodobá spolupráce během studia, kvalifikační práce (bakalářky diplomky)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2A52067-0260-4090-97E1-52A5912E6801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7218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E1B3453-1697-46B0-B02A-427F8F26C535}" type="datetime1">
              <a:rPr lang="de-DE" smtClean="0"/>
              <a:t>24.11.2025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993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linkedin.com/company/leuze-electronic-gmbh---co--kg" TargetMode="External"/><Relationship Id="rId7" Type="http://schemas.openxmlformats.org/officeDocument/2006/relationships/hyperlink" Target="http://twitter.com/TheSensorPeople" TargetMode="External"/><Relationship Id="rId12" Type="http://schemas.openxmlformats.org/officeDocument/2006/relationships/image" Target="../media/image9.png"/><Relationship Id="rId2" Type="http://schemas.openxmlformats.org/officeDocument/2006/relationships/hyperlink" Target="https://www.leuze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hyperlink" Target="https://www.facebook.com/LeuzeDE/" TargetMode="External"/><Relationship Id="rId5" Type="http://schemas.openxmlformats.org/officeDocument/2006/relationships/hyperlink" Target="https://www.youtube.com/user/LeuzeElectronicDE/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hyperlink" Target="https://www.xing.com/companies/leuzeelectronicgmbh+co.kg/updates" TargetMode="Externa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linkedin.com/company/leuze-electronic-gmbh---co--kg" TargetMode="External"/><Relationship Id="rId7" Type="http://schemas.openxmlformats.org/officeDocument/2006/relationships/hyperlink" Target="http://twitter.com/TheSensorPeople" TargetMode="External"/><Relationship Id="rId12" Type="http://schemas.openxmlformats.org/officeDocument/2006/relationships/image" Target="../media/image9.png"/><Relationship Id="rId2" Type="http://schemas.openxmlformats.org/officeDocument/2006/relationships/hyperlink" Target="https://www.leuze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hyperlink" Target="https://www.facebook.com/LeuzeDE/" TargetMode="External"/><Relationship Id="rId5" Type="http://schemas.openxmlformats.org/officeDocument/2006/relationships/hyperlink" Target="https://www.youtube.com/user/LeuzeElectronicDE/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hyperlink" Target="https://www.xing.com/companies/leuzeelectronicgmbh+co.kg/updates" TargetMode="Externa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ro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2306884" y="2504907"/>
            <a:ext cx="9389816" cy="695638"/>
          </a:xfrm>
        </p:spPr>
        <p:txBody>
          <a:bodyPr anchor="b" anchorCtr="0"/>
          <a:lstStyle>
            <a:lvl1pPr algn="l">
              <a:defRPr sz="4500" b="1" baseline="0">
                <a:solidFill>
                  <a:schemeClr val="bg1"/>
                </a:solidFill>
                <a:latin typeface="+mj-lt"/>
                <a:ea typeface="Helvetica Neue LT Pro 55 Roman" charset="0"/>
                <a:cs typeface="Helvetica Neue LT Pro 55 Roman" charset="0"/>
              </a:defRPr>
            </a:lvl1pPr>
          </a:lstStyle>
          <a:p>
            <a:r>
              <a:rPr lang="en-US" err="1"/>
              <a:t>Titel-Überschrift</a:t>
            </a:r>
            <a:endParaRPr lang="en-US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06884" y="3212976"/>
            <a:ext cx="9389816" cy="72008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500" baseline="0">
                <a:solidFill>
                  <a:schemeClr val="bg1"/>
                </a:solidFill>
                <a:latin typeface="+mj-lt"/>
                <a:ea typeface="Helvetica Neue LT Pro 55 Roman" charset="0"/>
                <a:cs typeface="Helvetica Neue LT Pro 55 Roman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Titel-Unterzeile</a:t>
            </a:r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E956178-67F3-4494-A134-3BE25645D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875" y="332656"/>
            <a:ext cx="2000765" cy="51072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B2D0F7D-736B-4F57-84D7-54F1227969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6314667"/>
            <a:ext cx="2042154" cy="210677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2D1CA5-D1C2-474C-B229-C63FBE16B8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638" y="4149725"/>
            <a:ext cx="9398000" cy="28733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Weitere</a:t>
            </a:r>
            <a:r>
              <a:rPr lang="en-US"/>
              <a:t> </a:t>
            </a:r>
            <a:r>
              <a:rPr lang="en-US" err="1"/>
              <a:t>Informationen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9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2306884" y="2504907"/>
            <a:ext cx="9389816" cy="695638"/>
          </a:xfrm>
        </p:spPr>
        <p:txBody>
          <a:bodyPr anchor="b" anchorCtr="0"/>
          <a:lstStyle>
            <a:lvl1pPr algn="l">
              <a:defRPr sz="4500" b="1" baseline="0">
                <a:solidFill>
                  <a:schemeClr val="tx1"/>
                </a:solidFill>
                <a:latin typeface="+mj-lt"/>
                <a:ea typeface="Helvetica Neue LT Pro 55 Roman" charset="0"/>
                <a:cs typeface="Helvetica Neue LT Pro 55 Roman" charset="0"/>
              </a:defRPr>
            </a:lvl1pPr>
          </a:lstStyle>
          <a:p>
            <a:r>
              <a:rPr lang="en-US" err="1"/>
              <a:t>Titel-Überschrift</a:t>
            </a:r>
            <a:r>
              <a:rPr lang="en-US"/>
              <a:t>	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06884" y="3212976"/>
            <a:ext cx="9389816" cy="72008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500" baseline="0">
                <a:solidFill>
                  <a:schemeClr val="tx1"/>
                </a:solidFill>
                <a:latin typeface="+mj-lt"/>
                <a:ea typeface="Helvetica Neue LT Pro 55 Roman" charset="0"/>
                <a:cs typeface="Helvetica Neue LT Pro 55 Roman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Titel-Unterzeile</a:t>
            </a:r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B92B661-8DEE-4149-8872-1854A5E5E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873" y="332656"/>
            <a:ext cx="2000769" cy="5107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2BC3806-1302-49DD-9928-1396D7A7F2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60" y="6314667"/>
            <a:ext cx="2042154" cy="210676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2D1CA5-D1C2-474C-B229-C63FBE16B8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638" y="4149725"/>
            <a:ext cx="9398000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Weitere</a:t>
            </a:r>
            <a:r>
              <a:rPr lang="en-US"/>
              <a:t> </a:t>
            </a:r>
            <a:r>
              <a:rPr lang="en-US" err="1"/>
              <a:t>Informationen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8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49C8C-A446-4934-B56F-579880BE7C5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6092825" cy="6858000"/>
          </a:xfrm>
          <a:custGeom>
            <a:avLst/>
            <a:gdLst>
              <a:gd name="connsiteX0" fmla="*/ 334963 w 6092825"/>
              <a:gd name="connsiteY0" fmla="*/ 5304960 h 6858000"/>
              <a:gd name="connsiteX1" fmla="*/ 334963 w 6092825"/>
              <a:gd name="connsiteY1" fmla="*/ 6524625 h 6858000"/>
              <a:gd name="connsiteX2" fmla="*/ 1168963 w 6092825"/>
              <a:gd name="connsiteY2" fmla="*/ 6524625 h 6858000"/>
              <a:gd name="connsiteX3" fmla="*/ 1168963 w 6092825"/>
              <a:gd name="connsiteY3" fmla="*/ 6283585 h 6858000"/>
              <a:gd name="connsiteX4" fmla="*/ 614570 w 6092825"/>
              <a:gd name="connsiteY4" fmla="*/ 6283585 h 6858000"/>
              <a:gd name="connsiteX5" fmla="*/ 614570 w 6092825"/>
              <a:gd name="connsiteY5" fmla="*/ 5304960 h 6858000"/>
              <a:gd name="connsiteX6" fmla="*/ 0 w 6092825"/>
              <a:gd name="connsiteY6" fmla="*/ 0 h 6858000"/>
              <a:gd name="connsiteX7" fmla="*/ 6092825 w 6092825"/>
              <a:gd name="connsiteY7" fmla="*/ 0 h 6858000"/>
              <a:gd name="connsiteX8" fmla="*/ 6092825 w 6092825"/>
              <a:gd name="connsiteY8" fmla="*/ 6858000 h 6858000"/>
              <a:gd name="connsiteX9" fmla="*/ 0 w 609282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2825" h="6858000">
                <a:moveTo>
                  <a:pt x="334963" y="5304960"/>
                </a:moveTo>
                <a:lnTo>
                  <a:pt x="334963" y="6524625"/>
                </a:lnTo>
                <a:lnTo>
                  <a:pt x="1168963" y="6524625"/>
                </a:lnTo>
                <a:lnTo>
                  <a:pt x="1168963" y="6283585"/>
                </a:lnTo>
                <a:lnTo>
                  <a:pt x="614570" y="6283585"/>
                </a:lnTo>
                <a:lnTo>
                  <a:pt x="614570" y="5304960"/>
                </a:lnTo>
                <a:close/>
                <a:moveTo>
                  <a:pt x="0" y="0"/>
                </a:moveTo>
                <a:lnTo>
                  <a:pt x="6092825" y="0"/>
                </a:lnTo>
                <a:lnTo>
                  <a:pt x="60928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bIns="612000" anchor="ctr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Sie</a:t>
            </a:r>
            <a:r>
              <a:rPr lang="en-US"/>
              <a:t> auf das Symbol </a:t>
            </a:r>
            <a:r>
              <a:rPr lang="en-US" err="1"/>
              <a:t>unten</a:t>
            </a:r>
            <a:r>
              <a:rPr lang="en-US"/>
              <a:t>, um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Bild</a:t>
            </a:r>
            <a:r>
              <a:rPr lang="en-US"/>
              <a:t> </a:t>
            </a:r>
            <a:r>
              <a:rPr lang="en-US" err="1"/>
              <a:t>einzufügen</a:t>
            </a:r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5713CBE-72C8-4E04-AFB0-AF1D90A20F5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266400" indent="-266400" algn="l">
              <a:lnSpc>
                <a:spcPct val="118000"/>
              </a:lnSpc>
              <a:spcAft>
                <a:spcPts val="200"/>
              </a:spcAft>
              <a:buFont typeface="Arial" panose="020B0604020202020204" pitchFamily="34" charset="0"/>
              <a:buChar char="–"/>
            </a:pPr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invGray">
          <a:xfrm>
            <a:off x="6888088" y="2849530"/>
            <a:ext cx="3888432" cy="444737"/>
          </a:xfrm>
        </p:spPr>
        <p:txBody>
          <a:bodyPr anchor="t" anchorCtr="0">
            <a:spAutoFit/>
          </a:bodyPr>
          <a:lstStyle>
            <a:lvl1pPr algn="l">
              <a:defRPr sz="3400" baseline="0">
                <a:solidFill>
                  <a:schemeClr val="bg1"/>
                </a:solidFill>
                <a:latin typeface="+mj-lt"/>
                <a:ea typeface="Helvetica Neue LT Pro 55 Roman" charset="0"/>
                <a:cs typeface="Helvetica Neue LT Pro 55 Roman" charset="0"/>
              </a:defRPr>
            </a:lvl1pPr>
          </a:lstStyle>
          <a:p>
            <a:r>
              <a:rPr lang="en-US" err="1"/>
              <a:t>Kapitel</a:t>
            </a:r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DAE81A33-988D-4C30-8AB0-9BD1D6B3F547}"/>
              </a:ext>
            </a:extLst>
          </p:cNvPr>
          <p:cNvSpPr>
            <a:spLocks/>
          </p:cNvSpPr>
          <p:nvPr userDrawn="1"/>
        </p:nvSpPr>
        <p:spPr bwMode="auto">
          <a:xfrm>
            <a:off x="11023038" y="333375"/>
            <a:ext cx="834000" cy="1219665"/>
          </a:xfrm>
          <a:custGeom>
            <a:avLst/>
            <a:gdLst>
              <a:gd name="T0" fmla="*/ 229 w 346"/>
              <a:gd name="T1" fmla="*/ 100 h 506"/>
              <a:gd name="T2" fmla="*/ 229 w 346"/>
              <a:gd name="T3" fmla="*/ 506 h 506"/>
              <a:gd name="T4" fmla="*/ 346 w 346"/>
              <a:gd name="T5" fmla="*/ 506 h 506"/>
              <a:gd name="T6" fmla="*/ 346 w 346"/>
              <a:gd name="T7" fmla="*/ 0 h 506"/>
              <a:gd name="T8" fmla="*/ 0 w 346"/>
              <a:gd name="T9" fmla="*/ 0 h 506"/>
              <a:gd name="T10" fmla="*/ 0 w 346"/>
              <a:gd name="T11" fmla="*/ 100 h 506"/>
              <a:gd name="T12" fmla="*/ 229 w 346"/>
              <a:gd name="T13" fmla="*/ 100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229" y="100"/>
                </a:moveTo>
                <a:lnTo>
                  <a:pt x="229" y="506"/>
                </a:lnTo>
                <a:lnTo>
                  <a:pt x="346" y="506"/>
                </a:lnTo>
                <a:lnTo>
                  <a:pt x="346" y="0"/>
                </a:lnTo>
                <a:lnTo>
                  <a:pt x="0" y="0"/>
                </a:lnTo>
                <a:lnTo>
                  <a:pt x="0" y="100"/>
                </a:lnTo>
                <a:lnTo>
                  <a:pt x="229" y="1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0C7B68-92B3-4DC4-AA70-888C9AD392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5934" y="1700808"/>
            <a:ext cx="608979" cy="1151533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7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6E280D27-4B01-4B6A-93FB-B5352D45FDB4}"/>
              </a:ext>
            </a:extLst>
          </p:cNvPr>
          <p:cNvSpPr>
            <a:spLocks/>
          </p:cNvSpPr>
          <p:nvPr userDrawn="1"/>
        </p:nvSpPr>
        <p:spPr bwMode="auto">
          <a:xfrm>
            <a:off x="334963" y="5304960"/>
            <a:ext cx="834000" cy="1219665"/>
          </a:xfrm>
          <a:custGeom>
            <a:avLst/>
            <a:gdLst>
              <a:gd name="T0" fmla="*/ 116 w 346"/>
              <a:gd name="T1" fmla="*/ 406 h 506"/>
              <a:gd name="T2" fmla="*/ 116 w 346"/>
              <a:gd name="T3" fmla="*/ 0 h 506"/>
              <a:gd name="T4" fmla="*/ 0 w 346"/>
              <a:gd name="T5" fmla="*/ 0 h 506"/>
              <a:gd name="T6" fmla="*/ 0 w 346"/>
              <a:gd name="T7" fmla="*/ 506 h 506"/>
              <a:gd name="T8" fmla="*/ 346 w 346"/>
              <a:gd name="T9" fmla="*/ 506 h 506"/>
              <a:gd name="T10" fmla="*/ 346 w 346"/>
              <a:gd name="T11" fmla="*/ 406 h 506"/>
              <a:gd name="T12" fmla="*/ 116 w 346"/>
              <a:gd name="T13" fmla="*/ 406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116" y="406"/>
                </a:moveTo>
                <a:lnTo>
                  <a:pt x="116" y="0"/>
                </a:lnTo>
                <a:lnTo>
                  <a:pt x="0" y="0"/>
                </a:lnTo>
                <a:lnTo>
                  <a:pt x="0" y="506"/>
                </a:lnTo>
                <a:lnTo>
                  <a:pt x="346" y="506"/>
                </a:lnTo>
                <a:lnTo>
                  <a:pt x="346" y="406"/>
                </a:lnTo>
                <a:lnTo>
                  <a:pt x="116" y="4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weiß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invGray">
          <a:xfrm>
            <a:off x="1739602" y="2849530"/>
            <a:ext cx="9108926" cy="588623"/>
          </a:xfrm>
        </p:spPr>
        <p:txBody>
          <a:bodyPr wrap="square" anchor="t" anchorCtr="0">
            <a:spAutoFit/>
          </a:bodyPr>
          <a:lstStyle>
            <a:lvl1pPr algn="l">
              <a:defRPr sz="4500" baseline="0">
                <a:solidFill>
                  <a:schemeClr val="tx1"/>
                </a:solidFill>
                <a:latin typeface="+mj-lt"/>
                <a:ea typeface="Helvetica Neue LT Pro 55 Roman" charset="0"/>
                <a:cs typeface="Helvetica Neue LT Pro 55 Roman" charset="0"/>
              </a:defRPr>
            </a:lvl1pPr>
          </a:lstStyle>
          <a:p>
            <a:r>
              <a:rPr lang="en-US" err="1"/>
              <a:t>Kapitel</a:t>
            </a:r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DAE81A33-988D-4C30-8AB0-9BD1D6B3F547}"/>
              </a:ext>
            </a:extLst>
          </p:cNvPr>
          <p:cNvSpPr>
            <a:spLocks/>
          </p:cNvSpPr>
          <p:nvPr userDrawn="1"/>
        </p:nvSpPr>
        <p:spPr bwMode="auto">
          <a:xfrm>
            <a:off x="11023038" y="333375"/>
            <a:ext cx="834000" cy="1219665"/>
          </a:xfrm>
          <a:custGeom>
            <a:avLst/>
            <a:gdLst>
              <a:gd name="T0" fmla="*/ 229 w 346"/>
              <a:gd name="T1" fmla="*/ 100 h 506"/>
              <a:gd name="T2" fmla="*/ 229 w 346"/>
              <a:gd name="T3" fmla="*/ 506 h 506"/>
              <a:gd name="T4" fmla="*/ 346 w 346"/>
              <a:gd name="T5" fmla="*/ 506 h 506"/>
              <a:gd name="T6" fmla="*/ 346 w 346"/>
              <a:gd name="T7" fmla="*/ 0 h 506"/>
              <a:gd name="T8" fmla="*/ 0 w 346"/>
              <a:gd name="T9" fmla="*/ 0 h 506"/>
              <a:gd name="T10" fmla="*/ 0 w 346"/>
              <a:gd name="T11" fmla="*/ 100 h 506"/>
              <a:gd name="T12" fmla="*/ 229 w 346"/>
              <a:gd name="T13" fmla="*/ 100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229" y="100"/>
                </a:moveTo>
                <a:lnTo>
                  <a:pt x="229" y="506"/>
                </a:lnTo>
                <a:lnTo>
                  <a:pt x="346" y="506"/>
                </a:lnTo>
                <a:lnTo>
                  <a:pt x="346" y="0"/>
                </a:lnTo>
                <a:lnTo>
                  <a:pt x="0" y="0"/>
                </a:lnTo>
                <a:lnTo>
                  <a:pt x="0" y="100"/>
                </a:lnTo>
                <a:lnTo>
                  <a:pt x="229" y="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0C7B68-92B3-4DC4-AA70-888C9AD392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7448" y="1700808"/>
            <a:ext cx="608979" cy="1151533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7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6E280D27-4B01-4B6A-93FB-B5352D45FDB4}"/>
              </a:ext>
            </a:extLst>
          </p:cNvPr>
          <p:cNvSpPr>
            <a:spLocks/>
          </p:cNvSpPr>
          <p:nvPr userDrawn="1"/>
        </p:nvSpPr>
        <p:spPr bwMode="auto">
          <a:xfrm>
            <a:off x="334963" y="5304960"/>
            <a:ext cx="834000" cy="1219665"/>
          </a:xfrm>
          <a:custGeom>
            <a:avLst/>
            <a:gdLst>
              <a:gd name="T0" fmla="*/ 116 w 346"/>
              <a:gd name="T1" fmla="*/ 406 h 506"/>
              <a:gd name="T2" fmla="*/ 116 w 346"/>
              <a:gd name="T3" fmla="*/ 0 h 506"/>
              <a:gd name="T4" fmla="*/ 0 w 346"/>
              <a:gd name="T5" fmla="*/ 0 h 506"/>
              <a:gd name="T6" fmla="*/ 0 w 346"/>
              <a:gd name="T7" fmla="*/ 506 h 506"/>
              <a:gd name="T8" fmla="*/ 346 w 346"/>
              <a:gd name="T9" fmla="*/ 506 h 506"/>
              <a:gd name="T10" fmla="*/ 346 w 346"/>
              <a:gd name="T11" fmla="*/ 406 h 506"/>
              <a:gd name="T12" fmla="*/ 116 w 346"/>
              <a:gd name="T13" fmla="*/ 406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116" y="406"/>
                </a:moveTo>
                <a:lnTo>
                  <a:pt x="116" y="0"/>
                </a:lnTo>
                <a:lnTo>
                  <a:pt x="0" y="0"/>
                </a:lnTo>
                <a:lnTo>
                  <a:pt x="0" y="506"/>
                </a:lnTo>
                <a:lnTo>
                  <a:pt x="346" y="506"/>
                </a:lnTo>
                <a:lnTo>
                  <a:pt x="346" y="406"/>
                </a:lnTo>
                <a:lnTo>
                  <a:pt x="116" y="4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176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6CA5B5-0145-4FF4-89AE-2162E574875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2BA6F7-927A-4A71-B382-CAF6C17A5F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723410-BD6D-45D9-8875-66461C0F272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D5CB99-AFDF-4DDC-995D-08AEC8FECB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360" y="1412875"/>
            <a:ext cx="11521280" cy="4895849"/>
          </a:xfrm>
        </p:spPr>
        <p:txBody>
          <a:bodyPr/>
          <a:lstStyle>
            <a:lvl1pPr marL="324000" indent="-324000">
              <a:buFont typeface="+mj-lt"/>
              <a:buAutoNum type="arabicPeriod"/>
              <a:defRPr/>
            </a:lvl1pPr>
            <a:lvl2pPr marL="625475" indent="-274638">
              <a:defRPr/>
            </a:lvl2pPr>
            <a:lvl3pPr marL="898525" indent="-266700">
              <a:defRPr/>
            </a:lvl3pPr>
            <a:lvl4pPr marL="1165225" indent="-266700">
              <a:defRPr/>
            </a:lvl4pPr>
            <a:lvl5pPr marL="1431925" indent="-266700">
              <a:defRPr/>
            </a:lvl5pPr>
          </a:lstStyle>
          <a:p>
            <a:pPr lvl="0"/>
            <a:r>
              <a:rPr lang="de-DE"/>
              <a:t>Agenda-Punkt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0AAEB3C-27B0-48A4-98C4-2EE633523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Agenda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4">
            <a:extLst>
              <a:ext uri="{FF2B5EF4-FFF2-40B4-BE49-F238E27FC236}">
                <a16:creationId xmlns:a16="http://schemas.microsoft.com/office/drawing/2014/main" id="{0AB3DBCB-BAF1-4F46-BBC4-B68746CE69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5360" y="1412875"/>
            <a:ext cx="11521280" cy="4895849"/>
          </a:xfrm>
          <a:solidFill>
            <a:schemeClr val="accent5">
              <a:lumMod val="60000"/>
              <a:lumOff val="40000"/>
            </a:schemeClr>
          </a:solidFill>
        </p:spPr>
        <p:txBody>
          <a:bodyPr bIns="612000" anchor="ctr"/>
          <a:lstStyle>
            <a:lvl1pPr marL="0" indent="0" algn="ctr">
              <a:buNone/>
              <a:defRPr baseline="0"/>
            </a:lvl1pPr>
          </a:lstStyle>
          <a:p>
            <a:r>
              <a:rPr lang="en-US" err="1"/>
              <a:t>Klicken</a:t>
            </a:r>
            <a:r>
              <a:rPr lang="en-US"/>
              <a:t> </a:t>
            </a:r>
            <a:r>
              <a:rPr lang="en-US" err="1"/>
              <a:t>Sie</a:t>
            </a:r>
            <a:r>
              <a:rPr lang="en-US"/>
              <a:t> auf das Symbol </a:t>
            </a:r>
            <a:r>
              <a:rPr lang="en-US" err="1"/>
              <a:t>unten</a:t>
            </a:r>
            <a:r>
              <a:rPr lang="en-US"/>
              <a:t>, um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Bild</a:t>
            </a:r>
            <a:r>
              <a:rPr lang="en-US"/>
              <a:t> </a:t>
            </a:r>
            <a:r>
              <a:rPr lang="en-US" err="1"/>
              <a:t>hinzuzufügen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8B9E86-403F-4A9A-89C7-E349CB6663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6921A5-5B5E-46C0-9ED4-3B7EB94F26A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03888A-43B7-4BBD-8CE9-45CADC4A949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127CC9-73B2-4060-8E80-882D5C1401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392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 mit Key Visu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8B194B4-FBD7-4FAF-8773-B102EE6E7FC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334963 w 12192000"/>
              <a:gd name="connsiteY0" fmla="*/ 5304960 h 6858000"/>
              <a:gd name="connsiteX1" fmla="*/ 334963 w 12192000"/>
              <a:gd name="connsiteY1" fmla="*/ 6524625 h 6858000"/>
              <a:gd name="connsiteX2" fmla="*/ 1168963 w 12192000"/>
              <a:gd name="connsiteY2" fmla="*/ 6524625 h 6858000"/>
              <a:gd name="connsiteX3" fmla="*/ 1168963 w 12192000"/>
              <a:gd name="connsiteY3" fmla="*/ 6283585 h 6858000"/>
              <a:gd name="connsiteX4" fmla="*/ 614570 w 12192000"/>
              <a:gd name="connsiteY4" fmla="*/ 6283585 h 6858000"/>
              <a:gd name="connsiteX5" fmla="*/ 614570 w 12192000"/>
              <a:gd name="connsiteY5" fmla="*/ 5304960 h 6858000"/>
              <a:gd name="connsiteX6" fmla="*/ 11023038 w 12192000"/>
              <a:gd name="connsiteY6" fmla="*/ 333375 h 6858000"/>
              <a:gd name="connsiteX7" fmla="*/ 11023038 w 12192000"/>
              <a:gd name="connsiteY7" fmla="*/ 574416 h 6858000"/>
              <a:gd name="connsiteX8" fmla="*/ 11575021 w 12192000"/>
              <a:gd name="connsiteY8" fmla="*/ 574416 h 6858000"/>
              <a:gd name="connsiteX9" fmla="*/ 11575021 w 12192000"/>
              <a:gd name="connsiteY9" fmla="*/ 1553040 h 6858000"/>
              <a:gd name="connsiteX10" fmla="*/ 11857038 w 12192000"/>
              <a:gd name="connsiteY10" fmla="*/ 1553040 h 6858000"/>
              <a:gd name="connsiteX11" fmla="*/ 11857038 w 12192000"/>
              <a:gd name="connsiteY11" fmla="*/ 333375 h 6858000"/>
              <a:gd name="connsiteX12" fmla="*/ 0 w 12192000"/>
              <a:gd name="connsiteY12" fmla="*/ 0 h 6858000"/>
              <a:gd name="connsiteX13" fmla="*/ 12192000 w 12192000"/>
              <a:gd name="connsiteY13" fmla="*/ 0 h 6858000"/>
              <a:gd name="connsiteX14" fmla="*/ 12192000 w 12192000"/>
              <a:gd name="connsiteY14" fmla="*/ 6858000 h 6858000"/>
              <a:gd name="connsiteX15" fmla="*/ 0 w 12192000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34963" y="5304960"/>
                </a:moveTo>
                <a:lnTo>
                  <a:pt x="334963" y="6524625"/>
                </a:lnTo>
                <a:lnTo>
                  <a:pt x="1168963" y="6524625"/>
                </a:lnTo>
                <a:lnTo>
                  <a:pt x="1168963" y="6283585"/>
                </a:lnTo>
                <a:lnTo>
                  <a:pt x="614570" y="6283585"/>
                </a:lnTo>
                <a:lnTo>
                  <a:pt x="614570" y="5304960"/>
                </a:lnTo>
                <a:close/>
                <a:moveTo>
                  <a:pt x="11023038" y="333375"/>
                </a:moveTo>
                <a:lnTo>
                  <a:pt x="11023038" y="574416"/>
                </a:lnTo>
                <a:lnTo>
                  <a:pt x="11575021" y="574416"/>
                </a:lnTo>
                <a:lnTo>
                  <a:pt x="11575021" y="1553040"/>
                </a:lnTo>
                <a:lnTo>
                  <a:pt x="11857038" y="1553040"/>
                </a:lnTo>
                <a:lnTo>
                  <a:pt x="11857038" y="33337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bIns="61200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de-DE"/>
              <a:t>Klicken Sie auf das Symbol unten, um ein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86283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 mit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B3423B3A-4AAE-46ED-B184-096B38EFA7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11746133 w 12192000"/>
              <a:gd name="connsiteY0" fmla="*/ 656592 h 6858000"/>
              <a:gd name="connsiteX1" fmla="*/ 11795954 w 12192000"/>
              <a:gd name="connsiteY1" fmla="*/ 705103 h 6858000"/>
              <a:gd name="connsiteX2" fmla="*/ 11694088 w 12192000"/>
              <a:gd name="connsiteY2" fmla="*/ 705103 h 6858000"/>
              <a:gd name="connsiteX3" fmla="*/ 11746133 w 12192000"/>
              <a:gd name="connsiteY3" fmla="*/ 656592 h 6858000"/>
              <a:gd name="connsiteX4" fmla="*/ 11007517 w 12192000"/>
              <a:gd name="connsiteY4" fmla="*/ 656592 h 6858000"/>
              <a:gd name="connsiteX5" fmla="*/ 11057338 w 12192000"/>
              <a:gd name="connsiteY5" fmla="*/ 705103 h 6858000"/>
              <a:gd name="connsiteX6" fmla="*/ 10955472 w 12192000"/>
              <a:gd name="connsiteY6" fmla="*/ 705103 h 6858000"/>
              <a:gd name="connsiteX7" fmla="*/ 11007517 w 12192000"/>
              <a:gd name="connsiteY7" fmla="*/ 656592 h 6858000"/>
              <a:gd name="connsiteX8" fmla="*/ 11159157 w 12192000"/>
              <a:gd name="connsiteY8" fmla="*/ 615600 h 6858000"/>
              <a:gd name="connsiteX9" fmla="*/ 11159157 w 12192000"/>
              <a:gd name="connsiteY9" fmla="*/ 744378 h 6858000"/>
              <a:gd name="connsiteX10" fmla="*/ 11185889 w 12192000"/>
              <a:gd name="connsiteY10" fmla="*/ 820893 h 6858000"/>
              <a:gd name="connsiteX11" fmla="*/ 11264910 w 12192000"/>
              <a:gd name="connsiteY11" fmla="*/ 849724 h 6858000"/>
              <a:gd name="connsiteX12" fmla="*/ 11346298 w 12192000"/>
              <a:gd name="connsiteY12" fmla="*/ 820893 h 6858000"/>
              <a:gd name="connsiteX13" fmla="*/ 11373043 w 12192000"/>
              <a:gd name="connsiteY13" fmla="*/ 744378 h 6858000"/>
              <a:gd name="connsiteX14" fmla="*/ 11373043 w 12192000"/>
              <a:gd name="connsiteY14" fmla="*/ 615600 h 6858000"/>
              <a:gd name="connsiteX15" fmla="*/ 11314814 w 12192000"/>
              <a:gd name="connsiteY15" fmla="*/ 615600 h 6858000"/>
              <a:gd name="connsiteX16" fmla="*/ 11314814 w 12192000"/>
              <a:gd name="connsiteY16" fmla="*/ 742720 h 6858000"/>
              <a:gd name="connsiteX17" fmla="*/ 11304118 w 12192000"/>
              <a:gd name="connsiteY17" fmla="*/ 784858 h 6858000"/>
              <a:gd name="connsiteX18" fmla="*/ 11266094 w 12192000"/>
              <a:gd name="connsiteY18" fmla="*/ 800940 h 6858000"/>
              <a:gd name="connsiteX19" fmla="*/ 11228074 w 12192000"/>
              <a:gd name="connsiteY19" fmla="*/ 784858 h 6858000"/>
              <a:gd name="connsiteX20" fmla="*/ 11217377 w 12192000"/>
              <a:gd name="connsiteY20" fmla="*/ 742720 h 6858000"/>
              <a:gd name="connsiteX21" fmla="*/ 11217377 w 12192000"/>
              <a:gd name="connsiteY21" fmla="*/ 615600 h 6858000"/>
              <a:gd name="connsiteX22" fmla="*/ 11416067 w 12192000"/>
              <a:gd name="connsiteY22" fmla="*/ 615592 h 6858000"/>
              <a:gd name="connsiteX23" fmla="*/ 11416067 w 12192000"/>
              <a:gd name="connsiteY23" fmla="*/ 662772 h 6858000"/>
              <a:gd name="connsiteX24" fmla="*/ 11527794 w 12192000"/>
              <a:gd name="connsiteY24" fmla="*/ 662772 h 6858000"/>
              <a:gd name="connsiteX25" fmla="*/ 11409162 w 12192000"/>
              <a:gd name="connsiteY25" fmla="*/ 796378 h 6858000"/>
              <a:gd name="connsiteX26" fmla="*/ 11409162 w 12192000"/>
              <a:gd name="connsiteY26" fmla="*/ 843553 h 6858000"/>
              <a:gd name="connsiteX27" fmla="*/ 11612205 w 12192000"/>
              <a:gd name="connsiteY27" fmla="*/ 843553 h 6858000"/>
              <a:gd name="connsiteX28" fmla="*/ 11612205 w 12192000"/>
              <a:gd name="connsiteY28" fmla="*/ 795265 h 6858000"/>
              <a:gd name="connsiteX29" fmla="*/ 11487473 w 12192000"/>
              <a:gd name="connsiteY29" fmla="*/ 795265 h 6858000"/>
              <a:gd name="connsiteX30" fmla="*/ 11605102 w 12192000"/>
              <a:gd name="connsiteY30" fmla="*/ 662772 h 6858000"/>
              <a:gd name="connsiteX31" fmla="*/ 11605102 w 12192000"/>
              <a:gd name="connsiteY31" fmla="*/ 615592 h 6858000"/>
              <a:gd name="connsiteX32" fmla="*/ 11747892 w 12192000"/>
              <a:gd name="connsiteY32" fmla="*/ 609408 h 6858000"/>
              <a:gd name="connsiteX33" fmla="*/ 11631464 w 12192000"/>
              <a:gd name="connsiteY33" fmla="*/ 729765 h 6858000"/>
              <a:gd name="connsiteX34" fmla="*/ 11747892 w 12192000"/>
              <a:gd name="connsiteY34" fmla="*/ 849728 h 6858000"/>
              <a:gd name="connsiteX35" fmla="*/ 11853372 w 12192000"/>
              <a:gd name="connsiteY35" fmla="*/ 776593 h 6858000"/>
              <a:gd name="connsiteX36" fmla="*/ 11798099 w 12192000"/>
              <a:gd name="connsiteY36" fmla="*/ 776593 h 6858000"/>
              <a:gd name="connsiteX37" fmla="*/ 11798099 w 12192000"/>
              <a:gd name="connsiteY37" fmla="*/ 776597 h 6858000"/>
              <a:gd name="connsiteX38" fmla="*/ 11750100 w 12192000"/>
              <a:gd name="connsiteY38" fmla="*/ 802552 h 6858000"/>
              <a:gd name="connsiteX39" fmla="*/ 11694088 w 12192000"/>
              <a:gd name="connsiteY39" fmla="*/ 744777 h 6858000"/>
              <a:gd name="connsiteX40" fmla="*/ 11858573 w 12192000"/>
              <a:gd name="connsiteY40" fmla="*/ 744777 h 6858000"/>
              <a:gd name="connsiteX41" fmla="*/ 11747892 w 12192000"/>
              <a:gd name="connsiteY41" fmla="*/ 609408 h 6858000"/>
              <a:gd name="connsiteX42" fmla="*/ 11009280 w 12192000"/>
              <a:gd name="connsiteY42" fmla="*/ 609408 h 6858000"/>
              <a:gd name="connsiteX43" fmla="*/ 10892852 w 12192000"/>
              <a:gd name="connsiteY43" fmla="*/ 729765 h 6858000"/>
              <a:gd name="connsiteX44" fmla="*/ 11009280 w 12192000"/>
              <a:gd name="connsiteY44" fmla="*/ 849728 h 6858000"/>
              <a:gd name="connsiteX45" fmla="*/ 11114760 w 12192000"/>
              <a:gd name="connsiteY45" fmla="*/ 776593 h 6858000"/>
              <a:gd name="connsiteX46" fmla="*/ 11059487 w 12192000"/>
              <a:gd name="connsiteY46" fmla="*/ 776593 h 6858000"/>
              <a:gd name="connsiteX47" fmla="*/ 11059487 w 12192000"/>
              <a:gd name="connsiteY47" fmla="*/ 776597 h 6858000"/>
              <a:gd name="connsiteX48" fmla="*/ 11011488 w 12192000"/>
              <a:gd name="connsiteY48" fmla="*/ 802552 h 6858000"/>
              <a:gd name="connsiteX49" fmla="*/ 10955476 w 12192000"/>
              <a:gd name="connsiteY49" fmla="*/ 744777 h 6858000"/>
              <a:gd name="connsiteX50" fmla="*/ 11119961 w 12192000"/>
              <a:gd name="connsiteY50" fmla="*/ 744777 h 6858000"/>
              <a:gd name="connsiteX51" fmla="*/ 11009280 w 12192000"/>
              <a:gd name="connsiteY51" fmla="*/ 609408 h 6858000"/>
              <a:gd name="connsiteX52" fmla="*/ 10669038 w 12192000"/>
              <a:gd name="connsiteY52" fmla="*/ 546071 h 6858000"/>
              <a:gd name="connsiteX53" fmla="*/ 10669038 w 12192000"/>
              <a:gd name="connsiteY53" fmla="*/ 843558 h 6858000"/>
              <a:gd name="connsiteX54" fmla="*/ 10871330 w 12192000"/>
              <a:gd name="connsiteY54" fmla="*/ 843558 h 6858000"/>
              <a:gd name="connsiteX55" fmla="*/ 10871330 w 12192000"/>
              <a:gd name="connsiteY55" fmla="*/ 785354 h 6858000"/>
              <a:gd name="connsiteX56" fmla="*/ 10737480 w 12192000"/>
              <a:gd name="connsiteY56" fmla="*/ 785354 h 6858000"/>
              <a:gd name="connsiteX57" fmla="*/ 10737480 w 12192000"/>
              <a:gd name="connsiteY57" fmla="*/ 546071 h 6858000"/>
              <a:gd name="connsiteX58" fmla="*/ 0 w 12192000"/>
              <a:gd name="connsiteY58" fmla="*/ 0 h 6858000"/>
              <a:gd name="connsiteX59" fmla="*/ 12192000 w 12192000"/>
              <a:gd name="connsiteY59" fmla="*/ 0 h 6858000"/>
              <a:gd name="connsiteX60" fmla="*/ 12192000 w 12192000"/>
              <a:gd name="connsiteY60" fmla="*/ 6858000 h 6858000"/>
              <a:gd name="connsiteX61" fmla="*/ 0 w 12192000"/>
              <a:gd name="connsiteY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2192000" h="6858000">
                <a:moveTo>
                  <a:pt x="11746133" y="656592"/>
                </a:moveTo>
                <a:cubicBezTo>
                  <a:pt x="11776547" y="656592"/>
                  <a:pt x="11790228" y="673325"/>
                  <a:pt x="11795954" y="705103"/>
                </a:cubicBezTo>
                <a:lnTo>
                  <a:pt x="11694088" y="705103"/>
                </a:lnTo>
                <a:cubicBezTo>
                  <a:pt x="11695414" y="687438"/>
                  <a:pt x="11705561" y="656592"/>
                  <a:pt x="11746133" y="656592"/>
                </a:cubicBezTo>
                <a:close/>
                <a:moveTo>
                  <a:pt x="11007517" y="656592"/>
                </a:moveTo>
                <a:cubicBezTo>
                  <a:pt x="11037931" y="656592"/>
                  <a:pt x="11051612" y="673325"/>
                  <a:pt x="11057338" y="705103"/>
                </a:cubicBezTo>
                <a:lnTo>
                  <a:pt x="10955472" y="705103"/>
                </a:lnTo>
                <a:cubicBezTo>
                  <a:pt x="10956803" y="687438"/>
                  <a:pt x="10966945" y="656592"/>
                  <a:pt x="11007517" y="656592"/>
                </a:cubicBezTo>
                <a:close/>
                <a:moveTo>
                  <a:pt x="11159157" y="615600"/>
                </a:moveTo>
                <a:lnTo>
                  <a:pt x="11159157" y="744378"/>
                </a:lnTo>
                <a:cubicBezTo>
                  <a:pt x="11159157" y="774313"/>
                  <a:pt x="11162717" y="799274"/>
                  <a:pt x="11185889" y="820893"/>
                </a:cubicBezTo>
                <a:cubicBezTo>
                  <a:pt x="11208465" y="842516"/>
                  <a:pt x="11239357" y="849724"/>
                  <a:pt x="11264910" y="849724"/>
                </a:cubicBezTo>
                <a:cubicBezTo>
                  <a:pt x="11292830" y="849724"/>
                  <a:pt x="11323722" y="841970"/>
                  <a:pt x="11346298" y="820893"/>
                </a:cubicBezTo>
                <a:cubicBezTo>
                  <a:pt x="11369475" y="799274"/>
                  <a:pt x="11373043" y="774313"/>
                  <a:pt x="11373043" y="744378"/>
                </a:cubicBezTo>
                <a:lnTo>
                  <a:pt x="11373043" y="615600"/>
                </a:lnTo>
                <a:lnTo>
                  <a:pt x="11314814" y="615600"/>
                </a:lnTo>
                <a:lnTo>
                  <a:pt x="11314814" y="742720"/>
                </a:lnTo>
                <a:cubicBezTo>
                  <a:pt x="11314814" y="756581"/>
                  <a:pt x="11314222" y="772655"/>
                  <a:pt x="11304118" y="784858"/>
                </a:cubicBezTo>
                <a:cubicBezTo>
                  <a:pt x="11296398" y="794283"/>
                  <a:pt x="11282734" y="800940"/>
                  <a:pt x="11266094" y="800940"/>
                </a:cubicBezTo>
                <a:cubicBezTo>
                  <a:pt x="11249466" y="800940"/>
                  <a:pt x="11235793" y="794283"/>
                  <a:pt x="11228074" y="784858"/>
                </a:cubicBezTo>
                <a:cubicBezTo>
                  <a:pt x="11217969" y="772655"/>
                  <a:pt x="11217377" y="756581"/>
                  <a:pt x="11217377" y="742720"/>
                </a:cubicBezTo>
                <a:lnTo>
                  <a:pt x="11217377" y="615600"/>
                </a:lnTo>
                <a:close/>
                <a:moveTo>
                  <a:pt x="11416067" y="615592"/>
                </a:moveTo>
                <a:lnTo>
                  <a:pt x="11416067" y="662772"/>
                </a:lnTo>
                <a:lnTo>
                  <a:pt x="11527794" y="662772"/>
                </a:lnTo>
                <a:lnTo>
                  <a:pt x="11409162" y="796378"/>
                </a:lnTo>
                <a:lnTo>
                  <a:pt x="11409162" y="843553"/>
                </a:lnTo>
                <a:lnTo>
                  <a:pt x="11612205" y="843553"/>
                </a:lnTo>
                <a:lnTo>
                  <a:pt x="11612205" y="795265"/>
                </a:lnTo>
                <a:lnTo>
                  <a:pt x="11487473" y="795265"/>
                </a:lnTo>
                <a:lnTo>
                  <a:pt x="11605102" y="662772"/>
                </a:lnTo>
                <a:lnTo>
                  <a:pt x="11605102" y="615592"/>
                </a:lnTo>
                <a:close/>
                <a:moveTo>
                  <a:pt x="11747892" y="609408"/>
                </a:moveTo>
                <a:cubicBezTo>
                  <a:pt x="11678648" y="609408"/>
                  <a:pt x="11631464" y="661436"/>
                  <a:pt x="11631464" y="729765"/>
                </a:cubicBezTo>
                <a:cubicBezTo>
                  <a:pt x="11631464" y="800323"/>
                  <a:pt x="11676008" y="849728"/>
                  <a:pt x="11747892" y="849728"/>
                </a:cubicBezTo>
                <a:cubicBezTo>
                  <a:pt x="11798330" y="849728"/>
                  <a:pt x="11835254" y="828231"/>
                  <a:pt x="11853372" y="776593"/>
                </a:cubicBezTo>
                <a:lnTo>
                  <a:pt x="11798099" y="776593"/>
                </a:lnTo>
                <a:lnTo>
                  <a:pt x="11798099" y="776597"/>
                </a:lnTo>
                <a:cubicBezTo>
                  <a:pt x="11792016" y="789610"/>
                  <a:pt x="11773109" y="802552"/>
                  <a:pt x="11750100" y="802552"/>
                </a:cubicBezTo>
                <a:cubicBezTo>
                  <a:pt x="11714821" y="802552"/>
                  <a:pt x="11695847" y="784921"/>
                  <a:pt x="11694088" y="744777"/>
                </a:cubicBezTo>
                <a:lnTo>
                  <a:pt x="11858573" y="744777"/>
                </a:lnTo>
                <a:cubicBezTo>
                  <a:pt x="11863422" y="674651"/>
                  <a:pt x="11825503" y="609408"/>
                  <a:pt x="11747892" y="609408"/>
                </a:cubicBezTo>
                <a:close/>
                <a:moveTo>
                  <a:pt x="11009280" y="609408"/>
                </a:moveTo>
                <a:cubicBezTo>
                  <a:pt x="10940036" y="609408"/>
                  <a:pt x="10892852" y="661436"/>
                  <a:pt x="10892852" y="729765"/>
                </a:cubicBezTo>
                <a:cubicBezTo>
                  <a:pt x="10892852" y="800323"/>
                  <a:pt x="10937396" y="849728"/>
                  <a:pt x="11009280" y="849728"/>
                </a:cubicBezTo>
                <a:cubicBezTo>
                  <a:pt x="11059718" y="849728"/>
                  <a:pt x="11096642" y="828231"/>
                  <a:pt x="11114760" y="776593"/>
                </a:cubicBezTo>
                <a:lnTo>
                  <a:pt x="11059487" y="776593"/>
                </a:lnTo>
                <a:lnTo>
                  <a:pt x="11059487" y="776597"/>
                </a:lnTo>
                <a:cubicBezTo>
                  <a:pt x="11053404" y="789610"/>
                  <a:pt x="11034497" y="802552"/>
                  <a:pt x="11011488" y="802552"/>
                </a:cubicBezTo>
                <a:cubicBezTo>
                  <a:pt x="10976209" y="802552"/>
                  <a:pt x="10957235" y="784921"/>
                  <a:pt x="10955476" y="744777"/>
                </a:cubicBezTo>
                <a:lnTo>
                  <a:pt x="11119961" y="744777"/>
                </a:lnTo>
                <a:cubicBezTo>
                  <a:pt x="11124810" y="674651"/>
                  <a:pt x="11086891" y="609408"/>
                  <a:pt x="11009280" y="609408"/>
                </a:cubicBezTo>
                <a:close/>
                <a:moveTo>
                  <a:pt x="10669038" y="546071"/>
                </a:moveTo>
                <a:lnTo>
                  <a:pt x="10669038" y="843558"/>
                </a:lnTo>
                <a:lnTo>
                  <a:pt x="10871330" y="843558"/>
                </a:lnTo>
                <a:lnTo>
                  <a:pt x="10871330" y="785354"/>
                </a:lnTo>
                <a:lnTo>
                  <a:pt x="10737480" y="785354"/>
                </a:lnTo>
                <a:lnTo>
                  <a:pt x="10737480" y="54607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 bIns="61200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de-DE"/>
              <a:t>Klicken Sie auf das Symbol unten, um ein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211621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2851E8-5DD7-4E7A-8D68-C7B886D5FA9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422407-A913-4BAA-A292-80696B06CE9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C1AB5D-432B-4560-B082-2FA30BED12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A1F543-D63B-4B99-905B-47A19076AD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412875"/>
            <a:ext cx="1152128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77C3108-03E4-4D00-B015-E933471AB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3796472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FF4146-7B02-4279-A39B-76EB00CA868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124E2C-16B5-4063-8C0B-FB911746AA0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91B0D3-87CD-491F-B2A3-7069B115F8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9">
            <a:extLst>
              <a:ext uri="{FF2B5EF4-FFF2-40B4-BE49-F238E27FC236}">
                <a16:creationId xmlns:a16="http://schemas.microsoft.com/office/drawing/2014/main" id="{DF69CE6B-CCB2-4742-A9FE-387137194E2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5360" y="1412875"/>
            <a:ext cx="5552679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3E76B51C-C3C2-42D7-9520-EEA8B867F0C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05550" y="1412875"/>
            <a:ext cx="5552679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C0E6A07-70FB-4C51-A760-177E0D6CC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283169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FF4146-7B02-4279-A39B-76EB00CA868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124E2C-16B5-4063-8C0B-FB911746AA0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91B0D3-87CD-491F-B2A3-7069B115F8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9">
            <a:extLst>
              <a:ext uri="{FF2B5EF4-FFF2-40B4-BE49-F238E27FC236}">
                <a16:creationId xmlns:a16="http://schemas.microsoft.com/office/drawing/2014/main" id="{DF69CE6B-CCB2-4742-A9FE-387137194E2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4963" y="1412875"/>
            <a:ext cx="5553076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Bildplatzhalter 14">
            <a:extLst>
              <a:ext uri="{FF2B5EF4-FFF2-40B4-BE49-F238E27FC236}">
                <a16:creationId xmlns:a16="http://schemas.microsoft.com/office/drawing/2014/main" id="{0AB3DBCB-BAF1-4F46-BBC4-B68746CE69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0" y="1412875"/>
            <a:ext cx="5553076" cy="4895849"/>
          </a:xfrm>
          <a:solidFill>
            <a:schemeClr val="accent5">
              <a:lumMod val="60000"/>
              <a:lumOff val="40000"/>
            </a:schemeClr>
          </a:solidFill>
        </p:spPr>
        <p:txBody>
          <a:bodyPr bIns="576000"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Klicken Sie auf das Symbol unten, um ein Bild hinzuzufügen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AE37394-1A99-424B-81AF-74FED385F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3274890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8F10F-4A70-4E29-AF3D-383A79A63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Überschrift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22B28B2-0E8E-4FA3-AA6C-209CE0694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508AB5-09F7-4754-B5DA-4814E9B0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312AF0-E6CD-4D01-9887-7BE1E559BCB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DC1F3AF7-1B01-4D33-85B2-03A805AD737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35360" y="1412875"/>
            <a:ext cx="11521280" cy="489584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Klicken Sie auf das Symbol unten, um eine Tabelle hinzuzufügen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12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/Kontakt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999369D2-C9AF-48BD-B349-5F6E1B00018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266400" indent="-266400" algn="l">
              <a:lnSpc>
                <a:spcPct val="118000"/>
              </a:lnSpc>
              <a:spcAft>
                <a:spcPts val="200"/>
              </a:spcAft>
              <a:buFont typeface="Arial" panose="020B0604020202020204" pitchFamily="34" charset="0"/>
              <a:buChar char="–"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>
          <a:xfrm>
            <a:off x="6305550" y="5228761"/>
            <a:ext cx="4015854" cy="297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lang="de-DE" baseline="0">
                <a:solidFill>
                  <a:schemeClr val="tx1"/>
                </a:solidFill>
                <a:effectLst/>
                <a:latin typeface="+mn-lt"/>
                <a:ea typeface="Helvetica Neue LT Pro 55 Roman" charset="0"/>
                <a:cs typeface="Helvetica Neue LT Pro 55 Roman" charset="0"/>
              </a:rPr>
              <a:t>Leuze electronic GmbH + Co. KG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C53A478-153B-4347-8B53-948D3C32A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05550" y="3824336"/>
            <a:ext cx="4639116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Kontakt</a:t>
            </a:r>
            <a:r>
              <a:rPr lang="en-US"/>
              <a:t>-Person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B91483D-9B01-47F9-BAE4-2C817B0319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1709" y="2434599"/>
            <a:ext cx="4648391" cy="889474"/>
          </a:xfr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34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Platzhalter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Abschluss</a:t>
            </a:r>
            <a:r>
              <a:rPr lang="en-US"/>
              <a:t>, </a:t>
            </a:r>
            <a:r>
              <a:rPr lang="en-US" err="1"/>
              <a:t>Zitat</a:t>
            </a:r>
            <a:r>
              <a:rPr lang="en-US"/>
              <a:t>…</a:t>
            </a:r>
            <a:endParaRPr lang="de-DE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28F79E8-469E-4E4F-832E-CE1E9919F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5550" y="4149774"/>
            <a:ext cx="4639116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D3A87E5A-B31D-477C-920D-017957424B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0" y="4520681"/>
            <a:ext cx="4639116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+ 49 7021 573 - 0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D4931E1A-781D-47A4-9FCC-C8852D7DA7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4838499"/>
            <a:ext cx="4639116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name@leuze.com</a:t>
            </a:r>
          </a:p>
        </p:txBody>
      </p:sp>
      <p:sp>
        <p:nvSpPr>
          <p:cNvPr id="27" name="Rechteck 26">
            <a:hlinkClick r:id="rId2"/>
            <a:extLst>
              <a:ext uri="{FF2B5EF4-FFF2-40B4-BE49-F238E27FC236}">
                <a16:creationId xmlns:a16="http://schemas.microsoft.com/office/drawing/2014/main" id="{8F4EB138-13E9-40CC-8639-E1938BE3BC16}"/>
              </a:ext>
            </a:extLst>
          </p:cNvPr>
          <p:cNvSpPr/>
          <p:nvPr userDrawn="1"/>
        </p:nvSpPr>
        <p:spPr>
          <a:xfrm>
            <a:off x="6312024" y="5574338"/>
            <a:ext cx="20887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aseline="0">
                <a:solidFill>
                  <a:schemeClr val="tx1"/>
                </a:solidFill>
                <a:effectLst/>
                <a:latin typeface="+mn-lt"/>
                <a:ea typeface="Helvetica Neue LT Pro 55 Roman" charset="0"/>
                <a:cs typeface="Helvetica Neue LT Pro 55 Roman" charset="0"/>
              </a:rPr>
              <a:t>www.leuze.com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9F113E6-A66F-4955-8BA0-9DD79BF1D4C2}"/>
              </a:ext>
            </a:extLst>
          </p:cNvPr>
          <p:cNvSpPr>
            <a:spLocks/>
          </p:cNvSpPr>
          <p:nvPr userDrawn="1"/>
        </p:nvSpPr>
        <p:spPr bwMode="auto">
          <a:xfrm>
            <a:off x="11023038" y="333375"/>
            <a:ext cx="834000" cy="1219665"/>
          </a:xfrm>
          <a:custGeom>
            <a:avLst/>
            <a:gdLst>
              <a:gd name="T0" fmla="*/ 229 w 346"/>
              <a:gd name="T1" fmla="*/ 100 h 506"/>
              <a:gd name="T2" fmla="*/ 229 w 346"/>
              <a:gd name="T3" fmla="*/ 506 h 506"/>
              <a:gd name="T4" fmla="*/ 346 w 346"/>
              <a:gd name="T5" fmla="*/ 506 h 506"/>
              <a:gd name="T6" fmla="*/ 346 w 346"/>
              <a:gd name="T7" fmla="*/ 0 h 506"/>
              <a:gd name="T8" fmla="*/ 0 w 346"/>
              <a:gd name="T9" fmla="*/ 0 h 506"/>
              <a:gd name="T10" fmla="*/ 0 w 346"/>
              <a:gd name="T11" fmla="*/ 100 h 506"/>
              <a:gd name="T12" fmla="*/ 229 w 346"/>
              <a:gd name="T13" fmla="*/ 100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229" y="100"/>
                </a:moveTo>
                <a:lnTo>
                  <a:pt x="229" y="506"/>
                </a:lnTo>
                <a:lnTo>
                  <a:pt x="346" y="506"/>
                </a:lnTo>
                <a:lnTo>
                  <a:pt x="346" y="0"/>
                </a:lnTo>
                <a:lnTo>
                  <a:pt x="0" y="0"/>
                </a:lnTo>
                <a:lnTo>
                  <a:pt x="0" y="100"/>
                </a:lnTo>
                <a:lnTo>
                  <a:pt x="229" y="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A9C5A317-6606-4F4E-8D41-0910EC8F7DC4}"/>
              </a:ext>
            </a:extLst>
          </p:cNvPr>
          <p:cNvSpPr>
            <a:spLocks/>
          </p:cNvSpPr>
          <p:nvPr userDrawn="1"/>
        </p:nvSpPr>
        <p:spPr bwMode="auto">
          <a:xfrm>
            <a:off x="334963" y="5304960"/>
            <a:ext cx="834000" cy="1219665"/>
          </a:xfrm>
          <a:custGeom>
            <a:avLst/>
            <a:gdLst>
              <a:gd name="T0" fmla="*/ 116 w 346"/>
              <a:gd name="T1" fmla="*/ 406 h 506"/>
              <a:gd name="T2" fmla="*/ 116 w 346"/>
              <a:gd name="T3" fmla="*/ 0 h 506"/>
              <a:gd name="T4" fmla="*/ 0 w 346"/>
              <a:gd name="T5" fmla="*/ 0 h 506"/>
              <a:gd name="T6" fmla="*/ 0 w 346"/>
              <a:gd name="T7" fmla="*/ 506 h 506"/>
              <a:gd name="T8" fmla="*/ 346 w 346"/>
              <a:gd name="T9" fmla="*/ 506 h 506"/>
              <a:gd name="T10" fmla="*/ 346 w 346"/>
              <a:gd name="T11" fmla="*/ 406 h 506"/>
              <a:gd name="T12" fmla="*/ 116 w 346"/>
              <a:gd name="T13" fmla="*/ 406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116" y="406"/>
                </a:moveTo>
                <a:lnTo>
                  <a:pt x="116" y="0"/>
                </a:lnTo>
                <a:lnTo>
                  <a:pt x="0" y="0"/>
                </a:lnTo>
                <a:lnTo>
                  <a:pt x="0" y="506"/>
                </a:lnTo>
                <a:lnTo>
                  <a:pt x="346" y="506"/>
                </a:lnTo>
                <a:lnTo>
                  <a:pt x="346" y="406"/>
                </a:lnTo>
                <a:lnTo>
                  <a:pt x="116" y="4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22" name="Grafik 21" descr="Ein Bild, das Zeichnung, Essen, Schild enthält.&#10;&#10;Automatisch generierte Beschreibung">
            <a:hlinkClick r:id="rId3"/>
            <a:extLst>
              <a:ext uri="{FF2B5EF4-FFF2-40B4-BE49-F238E27FC236}">
                <a16:creationId xmlns:a16="http://schemas.microsoft.com/office/drawing/2014/main" id="{FD52048B-2CAE-4332-A4AC-AF8ADB2E591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024" y="5943528"/>
            <a:ext cx="365792" cy="365792"/>
          </a:xfrm>
          <a:prstGeom prst="rect">
            <a:avLst/>
          </a:prstGeom>
        </p:spPr>
      </p:pic>
      <p:pic>
        <p:nvPicPr>
          <p:cNvPr id="19" name="Grafik 18" descr="Ein Bild, das Zeichnung enthält.&#10;&#10;Automatisch generierte Beschreibung">
            <a:hlinkClick r:id="rId5"/>
            <a:extLst>
              <a:ext uri="{FF2B5EF4-FFF2-40B4-BE49-F238E27FC236}">
                <a16:creationId xmlns:a16="http://schemas.microsoft.com/office/drawing/2014/main" id="{63FADD87-D49D-46DA-A52B-16909454F8F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008" y="5943528"/>
            <a:ext cx="365792" cy="365792"/>
          </a:xfrm>
          <a:prstGeom prst="rect">
            <a:avLst/>
          </a:prstGeom>
        </p:spPr>
      </p:pic>
      <p:pic>
        <p:nvPicPr>
          <p:cNvPr id="21" name="Grafik 20">
            <a:hlinkClick r:id="rId7"/>
            <a:extLst>
              <a:ext uri="{FF2B5EF4-FFF2-40B4-BE49-F238E27FC236}">
                <a16:creationId xmlns:a16="http://schemas.microsoft.com/office/drawing/2014/main" id="{D518A655-9895-464D-B469-D1FB0DD7113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516" y="5943528"/>
            <a:ext cx="365792" cy="365792"/>
          </a:xfrm>
          <a:prstGeom prst="rect">
            <a:avLst/>
          </a:prstGeom>
        </p:spPr>
      </p:pic>
      <p:pic>
        <p:nvPicPr>
          <p:cNvPr id="20" name="Grafik 19" descr="Ein Bild, das haltend, Zeichnung, Schild, schwingend enthält.&#10;&#10;Automatisch generierte Beschreibung">
            <a:hlinkClick r:id="rId9"/>
            <a:extLst>
              <a:ext uri="{FF2B5EF4-FFF2-40B4-BE49-F238E27FC236}">
                <a16:creationId xmlns:a16="http://schemas.microsoft.com/office/drawing/2014/main" id="{29322778-6212-4D97-AFAC-D589F2139B2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770" y="5943528"/>
            <a:ext cx="365792" cy="365792"/>
          </a:xfrm>
          <a:prstGeom prst="rect">
            <a:avLst/>
          </a:prstGeom>
        </p:spPr>
      </p:pic>
      <p:pic>
        <p:nvPicPr>
          <p:cNvPr id="18" name="Grafik 17" descr="Ein Bild, das Objekt, Zeichnung, Tisch enthält.&#10;&#10;Automatisch generierte Beschreibung">
            <a:hlinkClick r:id="rId11"/>
            <a:extLst>
              <a:ext uri="{FF2B5EF4-FFF2-40B4-BE49-F238E27FC236}">
                <a16:creationId xmlns:a16="http://schemas.microsoft.com/office/drawing/2014/main" id="{31D65BDF-AD0C-4558-A146-68C35D3E6E8E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262" y="5943528"/>
            <a:ext cx="365792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67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/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1231710" y="5228761"/>
            <a:ext cx="6096000" cy="62465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lang="de-DE" baseline="0">
                <a:solidFill>
                  <a:schemeClr val="tx1"/>
                </a:solidFill>
                <a:effectLst/>
                <a:latin typeface="+mn-lt"/>
                <a:ea typeface="Helvetica Neue LT Pro 55 Roman" charset="0"/>
                <a:cs typeface="Helvetica Neue LT Pro 55 Roman" charset="0"/>
              </a:rPr>
              <a:t>Leuze electronic GmbH + Co. KG</a:t>
            </a:r>
          </a:p>
          <a:p>
            <a:pPr>
              <a:lnSpc>
                <a:spcPct val="118000"/>
              </a:lnSpc>
            </a:pPr>
            <a:r>
              <a:rPr lang="de-DE" baseline="0">
                <a:solidFill>
                  <a:schemeClr val="tx1"/>
                </a:solidFill>
                <a:effectLst/>
                <a:latin typeface="+mn-lt"/>
                <a:ea typeface="Helvetica Neue LT Pro 55 Roman" charset="0"/>
                <a:cs typeface="Helvetica Neue LT Pro 55 Roman" charset="0"/>
              </a:rPr>
              <a:t>In der </a:t>
            </a:r>
            <a:r>
              <a:rPr lang="de-DE" baseline="0" err="1">
                <a:solidFill>
                  <a:schemeClr val="tx1"/>
                </a:solidFill>
                <a:effectLst/>
                <a:latin typeface="+mn-lt"/>
                <a:ea typeface="Helvetica Neue LT Pro 55 Roman" charset="0"/>
                <a:cs typeface="Helvetica Neue LT Pro 55 Roman" charset="0"/>
              </a:rPr>
              <a:t>Braike</a:t>
            </a:r>
            <a:r>
              <a:rPr lang="de-DE" baseline="0">
                <a:solidFill>
                  <a:schemeClr val="tx1"/>
                </a:solidFill>
                <a:effectLst/>
                <a:latin typeface="+mn-lt"/>
                <a:ea typeface="Helvetica Neue LT Pro 55 Roman" charset="0"/>
                <a:cs typeface="Helvetica Neue LT Pro 55 Roman" charset="0"/>
              </a:rPr>
              <a:t> 1, 73277 Owen, Germany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CC53A478-153B-4347-8B53-948D3C32A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1709" y="3824336"/>
            <a:ext cx="9712957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Kontakt</a:t>
            </a:r>
            <a:r>
              <a:rPr lang="en-US"/>
              <a:t>-Person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B91483D-9B01-47F9-BAE4-2C817B0319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1709" y="2879336"/>
            <a:ext cx="9712957" cy="588623"/>
          </a:xfr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4500" b="1" baseline="0">
                <a:latin typeface="+mj-lt"/>
              </a:defRPr>
            </a:lvl1pPr>
          </a:lstStyle>
          <a:p>
            <a:pPr lvl="0"/>
            <a:r>
              <a:rPr lang="en-US" err="1"/>
              <a:t>Platzhalter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Abschluss</a:t>
            </a:r>
            <a:r>
              <a:rPr lang="en-US"/>
              <a:t>, </a:t>
            </a:r>
            <a:r>
              <a:rPr lang="en-US" err="1"/>
              <a:t>Zitat</a:t>
            </a:r>
            <a:r>
              <a:rPr lang="en-US"/>
              <a:t>…</a:t>
            </a:r>
            <a:endParaRPr lang="de-DE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28F79E8-469E-4E4F-832E-CE1E9919F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31709" y="4149774"/>
            <a:ext cx="9712957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D3A87E5A-B31D-477C-920D-017957424B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1709" y="4520681"/>
            <a:ext cx="9712957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+ 49 7021 573 - 0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D4931E1A-781D-47A4-9FCC-C8852D7DA7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1709" y="4838499"/>
            <a:ext cx="9712957" cy="28733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name@leuze.com</a:t>
            </a:r>
          </a:p>
        </p:txBody>
      </p:sp>
      <p:sp>
        <p:nvSpPr>
          <p:cNvPr id="27" name="Rechteck 26">
            <a:hlinkClick r:id="rId2"/>
            <a:extLst>
              <a:ext uri="{FF2B5EF4-FFF2-40B4-BE49-F238E27FC236}">
                <a16:creationId xmlns:a16="http://schemas.microsoft.com/office/drawing/2014/main" id="{8F4EB138-13E9-40CC-8639-E1938BE3BC16}"/>
              </a:ext>
            </a:extLst>
          </p:cNvPr>
          <p:cNvSpPr/>
          <p:nvPr userDrawn="1"/>
        </p:nvSpPr>
        <p:spPr>
          <a:xfrm>
            <a:off x="9048329" y="5574338"/>
            <a:ext cx="18965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de-DE" baseline="0">
                <a:solidFill>
                  <a:schemeClr val="tx1"/>
                </a:solidFill>
                <a:effectLst/>
                <a:latin typeface="+mn-lt"/>
                <a:ea typeface="Helvetica Neue LT Pro 55 Roman" charset="0"/>
                <a:cs typeface="Helvetica Neue LT Pro 55 Roman" charset="0"/>
              </a:rPr>
              <a:t>www.leuze.com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9F113E6-A66F-4955-8BA0-9DD79BF1D4C2}"/>
              </a:ext>
            </a:extLst>
          </p:cNvPr>
          <p:cNvSpPr>
            <a:spLocks/>
          </p:cNvSpPr>
          <p:nvPr userDrawn="1"/>
        </p:nvSpPr>
        <p:spPr bwMode="auto">
          <a:xfrm>
            <a:off x="11023038" y="333375"/>
            <a:ext cx="834000" cy="1219665"/>
          </a:xfrm>
          <a:custGeom>
            <a:avLst/>
            <a:gdLst>
              <a:gd name="T0" fmla="*/ 229 w 346"/>
              <a:gd name="T1" fmla="*/ 100 h 506"/>
              <a:gd name="T2" fmla="*/ 229 w 346"/>
              <a:gd name="T3" fmla="*/ 506 h 506"/>
              <a:gd name="T4" fmla="*/ 346 w 346"/>
              <a:gd name="T5" fmla="*/ 506 h 506"/>
              <a:gd name="T6" fmla="*/ 346 w 346"/>
              <a:gd name="T7" fmla="*/ 0 h 506"/>
              <a:gd name="T8" fmla="*/ 0 w 346"/>
              <a:gd name="T9" fmla="*/ 0 h 506"/>
              <a:gd name="T10" fmla="*/ 0 w 346"/>
              <a:gd name="T11" fmla="*/ 100 h 506"/>
              <a:gd name="T12" fmla="*/ 229 w 346"/>
              <a:gd name="T13" fmla="*/ 100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229" y="100"/>
                </a:moveTo>
                <a:lnTo>
                  <a:pt x="229" y="506"/>
                </a:lnTo>
                <a:lnTo>
                  <a:pt x="346" y="506"/>
                </a:lnTo>
                <a:lnTo>
                  <a:pt x="346" y="0"/>
                </a:lnTo>
                <a:lnTo>
                  <a:pt x="0" y="0"/>
                </a:lnTo>
                <a:lnTo>
                  <a:pt x="0" y="100"/>
                </a:lnTo>
                <a:lnTo>
                  <a:pt x="229" y="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A9C5A317-6606-4F4E-8D41-0910EC8F7DC4}"/>
              </a:ext>
            </a:extLst>
          </p:cNvPr>
          <p:cNvSpPr>
            <a:spLocks/>
          </p:cNvSpPr>
          <p:nvPr userDrawn="1"/>
        </p:nvSpPr>
        <p:spPr bwMode="auto">
          <a:xfrm>
            <a:off x="334963" y="5304960"/>
            <a:ext cx="834000" cy="1219665"/>
          </a:xfrm>
          <a:custGeom>
            <a:avLst/>
            <a:gdLst>
              <a:gd name="T0" fmla="*/ 116 w 346"/>
              <a:gd name="T1" fmla="*/ 406 h 506"/>
              <a:gd name="T2" fmla="*/ 116 w 346"/>
              <a:gd name="T3" fmla="*/ 0 h 506"/>
              <a:gd name="T4" fmla="*/ 0 w 346"/>
              <a:gd name="T5" fmla="*/ 0 h 506"/>
              <a:gd name="T6" fmla="*/ 0 w 346"/>
              <a:gd name="T7" fmla="*/ 506 h 506"/>
              <a:gd name="T8" fmla="*/ 346 w 346"/>
              <a:gd name="T9" fmla="*/ 506 h 506"/>
              <a:gd name="T10" fmla="*/ 346 w 346"/>
              <a:gd name="T11" fmla="*/ 406 h 506"/>
              <a:gd name="T12" fmla="*/ 116 w 346"/>
              <a:gd name="T13" fmla="*/ 406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6" h="506">
                <a:moveTo>
                  <a:pt x="116" y="406"/>
                </a:moveTo>
                <a:lnTo>
                  <a:pt x="116" y="0"/>
                </a:lnTo>
                <a:lnTo>
                  <a:pt x="0" y="0"/>
                </a:lnTo>
                <a:lnTo>
                  <a:pt x="0" y="506"/>
                </a:lnTo>
                <a:lnTo>
                  <a:pt x="346" y="506"/>
                </a:lnTo>
                <a:lnTo>
                  <a:pt x="346" y="406"/>
                </a:lnTo>
                <a:lnTo>
                  <a:pt x="116" y="4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8" name="Grafik 17" descr="Ein Bild, das Zeichnung, Essen, Schild enthält.&#10;&#10;Automatisch generierte Beschreibung">
            <a:hlinkClick r:id="rId3"/>
            <a:extLst>
              <a:ext uri="{FF2B5EF4-FFF2-40B4-BE49-F238E27FC236}">
                <a16:creationId xmlns:a16="http://schemas.microsoft.com/office/drawing/2014/main" id="{2B3E3DBE-9227-4728-A6DC-8AA560123A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334" y="5943528"/>
            <a:ext cx="365792" cy="365792"/>
          </a:xfrm>
          <a:prstGeom prst="rect">
            <a:avLst/>
          </a:prstGeom>
        </p:spPr>
      </p:pic>
      <p:pic>
        <p:nvPicPr>
          <p:cNvPr id="20" name="Grafik 19" descr="Ein Bild, das Zeichnung enthält.&#10;&#10;Automatisch generierte Beschreibung">
            <a:hlinkClick r:id="rId5"/>
            <a:extLst>
              <a:ext uri="{FF2B5EF4-FFF2-40B4-BE49-F238E27FC236}">
                <a16:creationId xmlns:a16="http://schemas.microsoft.com/office/drawing/2014/main" id="{B19C4E9E-9E6E-433D-A027-CD455F25A05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318" y="5943528"/>
            <a:ext cx="365792" cy="365792"/>
          </a:xfrm>
          <a:prstGeom prst="rect">
            <a:avLst/>
          </a:prstGeom>
        </p:spPr>
      </p:pic>
      <p:pic>
        <p:nvPicPr>
          <p:cNvPr id="23" name="Grafik 22">
            <a:hlinkClick r:id="rId7"/>
            <a:extLst>
              <a:ext uri="{FF2B5EF4-FFF2-40B4-BE49-F238E27FC236}">
                <a16:creationId xmlns:a16="http://schemas.microsoft.com/office/drawing/2014/main" id="{805F7B8E-BB47-4F3A-8DC7-D56E27029A4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826" y="5943528"/>
            <a:ext cx="365792" cy="365792"/>
          </a:xfrm>
          <a:prstGeom prst="rect">
            <a:avLst/>
          </a:prstGeom>
        </p:spPr>
      </p:pic>
      <p:pic>
        <p:nvPicPr>
          <p:cNvPr id="24" name="Grafik 23" descr="Ein Bild, das haltend, Zeichnung, Schild, schwingend enthält.&#10;&#10;Automatisch generierte Beschreibung">
            <a:hlinkClick r:id="rId9"/>
            <a:extLst>
              <a:ext uri="{FF2B5EF4-FFF2-40B4-BE49-F238E27FC236}">
                <a16:creationId xmlns:a16="http://schemas.microsoft.com/office/drawing/2014/main" id="{4399C420-92E8-4200-BEF6-A9F9DFF66B5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080" y="5943528"/>
            <a:ext cx="365792" cy="365792"/>
          </a:xfrm>
          <a:prstGeom prst="rect">
            <a:avLst/>
          </a:prstGeom>
        </p:spPr>
      </p:pic>
      <p:pic>
        <p:nvPicPr>
          <p:cNvPr id="25" name="Grafik 24" descr="Ein Bild, das Objekt, Zeichnung, Tisch enthält.&#10;&#10;Automatisch generierte Beschreibung">
            <a:hlinkClick r:id="rId11"/>
            <a:extLst>
              <a:ext uri="{FF2B5EF4-FFF2-40B4-BE49-F238E27FC236}">
                <a16:creationId xmlns:a16="http://schemas.microsoft.com/office/drawing/2014/main" id="{E146F486-8FED-4476-8965-C1E7BF4B9D3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572" y="5943528"/>
            <a:ext cx="365792" cy="365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5F38CF9-CE1B-4BC6-8A2F-7EA3FCEC70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6858000"/>
          </a:xfrm>
        </p:spPr>
        <p:txBody>
          <a:bodyPr lIns="360000" rIns="360000" anchor="ctr"/>
          <a:lstStyle>
            <a:lvl1pPr marL="0" indent="0" algn="ctr">
              <a:buNone/>
              <a:defRPr sz="4500" b="1" baseline="0"/>
            </a:lvl1pPr>
          </a:lstStyle>
          <a:p>
            <a:pPr lvl="0"/>
            <a:r>
              <a:rPr lang="en-US" err="1"/>
              <a:t>Platzhalter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inspirierendes</a:t>
            </a:r>
            <a:r>
              <a:rPr lang="en-US"/>
              <a:t> </a:t>
            </a:r>
            <a:r>
              <a:rPr lang="en-US" err="1"/>
              <a:t>Zitat</a:t>
            </a:r>
            <a:r>
              <a:rPr lang="en-US"/>
              <a:t>.       </a:t>
            </a:r>
            <a:r>
              <a:rPr lang="en-US" err="1"/>
              <a:t>Sie</a:t>
            </a:r>
            <a:r>
              <a:rPr lang="en-US"/>
              <a:t> </a:t>
            </a:r>
            <a:r>
              <a:rPr lang="en-US" err="1"/>
              <a:t>können</a:t>
            </a:r>
            <a:r>
              <a:rPr lang="en-US"/>
              <a:t> den </a:t>
            </a:r>
            <a:r>
              <a:rPr lang="en-US" err="1"/>
              <a:t>Platzhalter</a:t>
            </a:r>
            <a:r>
              <a:rPr lang="en-US"/>
              <a:t> </a:t>
            </a:r>
            <a:r>
              <a:rPr lang="en-US" err="1"/>
              <a:t>entfernen</a:t>
            </a:r>
            <a:r>
              <a:rPr lang="en-US"/>
              <a:t>  und </a:t>
            </a:r>
            <a:r>
              <a:rPr lang="en-US" err="1"/>
              <a:t>ihren</a:t>
            </a:r>
            <a:r>
              <a:rPr lang="en-US"/>
              <a:t> </a:t>
            </a:r>
            <a:r>
              <a:rPr lang="en-US" err="1"/>
              <a:t>kreativen</a:t>
            </a:r>
            <a:r>
              <a:rPr lang="en-US"/>
              <a:t> </a:t>
            </a:r>
            <a:r>
              <a:rPr lang="en-US" err="1"/>
              <a:t>Ideen</a:t>
            </a:r>
            <a:r>
              <a:rPr lang="en-US"/>
              <a:t> </a:t>
            </a:r>
            <a:r>
              <a:rPr lang="en-US" err="1"/>
              <a:t>freien</a:t>
            </a:r>
            <a:r>
              <a:rPr lang="en-US"/>
              <a:t> </a:t>
            </a:r>
            <a:r>
              <a:rPr lang="en-US" err="1"/>
              <a:t>Lauf</a:t>
            </a:r>
            <a:r>
              <a:rPr lang="en-US"/>
              <a:t> </a:t>
            </a:r>
            <a:r>
              <a:rPr lang="en-US" err="1"/>
              <a:t>lassen</a:t>
            </a:r>
            <a:r>
              <a:rPr lang="en-US"/>
              <a:t>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9554EBD-B81E-4E24-85F9-3D38BA1FA7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9038" y="546070"/>
            <a:ext cx="1188000" cy="30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47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2851E8-5DD7-4E7A-8D68-C7B886D5FA9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422407-A913-4BAA-A292-80696B06CE9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C1AB5D-432B-4560-B082-2FA30BED12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A1F543-D63B-4B99-905B-47A19076AD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412875"/>
            <a:ext cx="1152128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77C3108-03E4-4D00-B015-E933471AB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6899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5360" y="603026"/>
            <a:ext cx="9361040" cy="30569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41666" y="1420589"/>
            <a:ext cx="11515372" cy="48881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879976" y="6521259"/>
            <a:ext cx="432050" cy="1312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800" baseline="0">
                <a:solidFill>
                  <a:schemeClr val="tx1"/>
                </a:solidFill>
              </a:defRPr>
            </a:lvl1pPr>
          </a:lstStyle>
          <a:p>
            <a:fld id="{CF689FB0-066A-489F-A436-57C0882AEA4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6" name="Textfeld 45"/>
          <p:cNvSpPr txBox="1"/>
          <p:nvPr userDrawn="1"/>
        </p:nvSpPr>
        <p:spPr>
          <a:xfrm>
            <a:off x="9572915" y="6525344"/>
            <a:ext cx="2283725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800" baseline="0"/>
            </a:lvl1pPr>
          </a:lstStyle>
          <a:p>
            <a:pPr lvl="0"/>
            <a:r>
              <a:rPr lang="de-DE"/>
              <a:t>© Leuze electronic GmbH + Co. KG / </a:t>
            </a:r>
            <a:r>
              <a:rPr lang="de-DE" err="1"/>
              <a:t>confidential</a:t>
            </a:r>
            <a:endParaRPr lang="de-DE"/>
          </a:p>
        </p:txBody>
      </p:sp>
      <p:sp>
        <p:nvSpPr>
          <p:cNvPr id="50" name="Fußzeilenplatzhalter 7">
            <a:extLst>
              <a:ext uri="{FF2B5EF4-FFF2-40B4-BE49-F238E27FC236}">
                <a16:creationId xmlns:a16="http://schemas.microsoft.com/office/drawing/2014/main" id="{1C4839D4-AD52-4E30-B82D-0ED9216B7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7839" y="6519655"/>
            <a:ext cx="4912137" cy="13449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aseline="0"/>
            </a:lvl1pPr>
          </a:lstStyle>
          <a:p>
            <a:r>
              <a:rPr lang="de-DE"/>
              <a:t>Projekt webConfig: .NET a framework Blazor</a:t>
            </a:r>
          </a:p>
        </p:txBody>
      </p:sp>
      <p:sp>
        <p:nvSpPr>
          <p:cNvPr id="51" name="Datumsplatzhalter 8">
            <a:extLst>
              <a:ext uri="{FF2B5EF4-FFF2-40B4-BE49-F238E27FC236}">
                <a16:creationId xmlns:a16="http://schemas.microsoft.com/office/drawing/2014/main" id="{C99007D8-4799-41BA-A869-A1128F1E7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1666" y="6521259"/>
            <a:ext cx="498694" cy="131281"/>
          </a:xfrm>
          <a:prstGeom prst="rect">
            <a:avLst/>
          </a:prstGeom>
        </p:spPr>
        <p:txBody>
          <a:bodyPr wrap="none" lIns="0" tIns="0" rIns="0" bIns="0"/>
          <a:lstStyle>
            <a:lvl1pPr>
              <a:defRPr sz="800" baseline="0"/>
            </a:lvl1pPr>
          </a:lstStyle>
          <a:p>
            <a:r>
              <a:rPr lang="en-US"/>
              <a:t>26.11.2025</a:t>
            </a:r>
            <a:endParaRPr lang="de-DE"/>
          </a:p>
        </p:txBody>
      </p:sp>
      <p:cxnSp>
        <p:nvCxnSpPr>
          <p:cNvPr id="11" name="Gerade Verbindung 35">
            <a:extLst>
              <a:ext uri="{FF2B5EF4-FFF2-40B4-BE49-F238E27FC236}">
                <a16:creationId xmlns:a16="http://schemas.microsoft.com/office/drawing/2014/main" id="{802EC78C-A337-4EA6-B25B-DB6CD48256DE}"/>
              </a:ext>
            </a:extLst>
          </p:cNvPr>
          <p:cNvCxnSpPr>
            <a:cxnSpLocks/>
          </p:cNvCxnSpPr>
          <p:nvPr userDrawn="1"/>
        </p:nvCxnSpPr>
        <p:spPr>
          <a:xfrm>
            <a:off x="335360" y="968116"/>
            <a:ext cx="11521678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851C3703-5316-43BB-86ED-0B666D4041EC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9038" y="546070"/>
            <a:ext cx="1188000" cy="30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5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81" r:id="rId3"/>
    <p:sldLayoutId id="2147483698" r:id="rId4"/>
    <p:sldLayoutId id="2147483675" r:id="rId5"/>
    <p:sldLayoutId id="2147483687" r:id="rId6"/>
    <p:sldLayoutId id="2147483696" r:id="rId7"/>
    <p:sldLayoutId id="2147483699" r:id="rId8"/>
    <p:sldLayoutId id="2147483662" r:id="rId9"/>
    <p:sldLayoutId id="2147483668" r:id="rId10"/>
    <p:sldLayoutId id="2147483686" r:id="rId11"/>
    <p:sldLayoutId id="2147483690" r:id="rId12"/>
    <p:sldLayoutId id="2147483694" r:id="rId13"/>
    <p:sldLayoutId id="2147483685" r:id="rId14"/>
    <p:sldLayoutId id="2147483697" r:id="rId15"/>
    <p:sldLayoutId id="2147483700" r:id="rId1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8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8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18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18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18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3972" userDrawn="1">
          <p15:clr>
            <a:srgbClr val="F26B43"/>
          </p15:clr>
        </p15:guide>
        <p15:guide id="5" pos="3838" userDrawn="1">
          <p15:clr>
            <a:srgbClr val="F26B43"/>
          </p15:clr>
        </p15:guide>
        <p15:guide id="6" orient="horz" pos="4110" userDrawn="1">
          <p15:clr>
            <a:srgbClr val="F26B43"/>
          </p15:clr>
        </p15:guide>
        <p15:guide id="7" orient="horz" pos="3974" userDrawn="1">
          <p15:clr>
            <a:srgbClr val="F26B43"/>
          </p15:clr>
        </p15:guide>
        <p15:guide id="8" orient="horz" pos="527" userDrawn="1">
          <p15:clr>
            <a:srgbClr val="F26B43"/>
          </p15:clr>
        </p15:guide>
        <p15:guide id="10" pos="7469" userDrawn="1">
          <p15:clr>
            <a:srgbClr val="F26B43"/>
          </p15:clr>
        </p15:guide>
        <p15:guide id="11" pos="211" userDrawn="1">
          <p15:clr>
            <a:srgbClr val="F26B43"/>
          </p15:clr>
        </p15:guide>
        <p15:guide id="12" pos="3704" userDrawn="1">
          <p15:clr>
            <a:srgbClr val="F26B43"/>
          </p15:clr>
        </p15:guide>
        <p15:guide id="13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jpeg"/><Relationship Id="rId11" Type="http://schemas.openxmlformats.org/officeDocument/2006/relationships/image" Target="../media/image25.jpeg"/><Relationship Id="rId5" Type="http://schemas.openxmlformats.org/officeDocument/2006/relationships/image" Target="../media/image1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isitvritra101.medium.com/fluxor-in-blazor-a-critical-analysis-for-senior-net-developers-a2e6b97d38db" TargetMode="Externa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blazor/components/component-disposal?view=aspnetcore-9.0" TargetMode="Externa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havit.blazor.eu/" TargetMode="External"/><Relationship Id="rId3" Type="http://schemas.openxmlformats.org/officeDocument/2006/relationships/hyperlink" Target="https://learn.microsoft.com/en-us/aspnet/core/blazor/?view=aspnetcore-10.0" TargetMode="External"/><Relationship Id="rId7" Type="http://schemas.openxmlformats.org/officeDocument/2006/relationships/hyperlink" Target="https://mudblazor.com/" TargetMode="External"/><Relationship Id="rId2" Type="http://schemas.openxmlformats.org/officeDocument/2006/relationships/hyperlink" Target="https://learn.microsoft.com/en-us/aspnet/core/?view=aspnetcore-10.0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blazorise.com/?via=asit&amp;gad_source=1&amp;gad_campaignid=23027916604&amp;gclid=CjwKCAiA8vXIBhAtEiwAf3B-g1d_Lj_y9auIHcgOjGPD-T4W7HuxP4u13oMKkY7f_0r-5PZGRIX2OhoC9-QQAvD_BwE" TargetMode="External"/><Relationship Id="rId5" Type="http://schemas.openxmlformats.org/officeDocument/2006/relationships/hyperlink" Target="https://www.fluentui-blazor.net/" TargetMode="External"/><Relationship Id="rId4" Type="http://schemas.openxmlformats.org/officeDocument/2006/relationships/hyperlink" Target="https://blazor-university.com/" TargetMode="External"/><Relationship Id="rId9" Type="http://schemas.openxmlformats.org/officeDocument/2006/relationships/hyperlink" Target="https://blazor.radzen.com/?theme=material3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.microsoft.com/en-us/download/dotnet/9.0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github.com/miroslavsiska/Blazor.Samples.git" TargetMode="External"/><Relationship Id="rId4" Type="http://schemas.openxmlformats.org/officeDocument/2006/relationships/hyperlink" Target="https://learn.microsoft.com/en-us/aspnet/core/blazor/hybrid/tutorials/maui-blazor-web-app?view=aspnetcore-9.0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souvamehranice.cz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Projekt webConfig:</a:t>
            </a:r>
            <a:endParaRPr lang="de-DE"/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.NET a framework Blazor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cs-CZ"/>
              <a:t>Pavel Špatenka, Miroslav Šiška</a:t>
            </a:r>
          </a:p>
          <a:p>
            <a:r>
              <a:rPr lang="cs-CZ"/>
              <a:t>KIV/WEB, 26.11.2025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33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3A13F8-41A7-0CAF-7EEF-A40FDE7922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/>
              <a:t>Pavel Špatenka, Miroslav Šiška</a:t>
            </a:r>
          </a:p>
          <a:p>
            <a:pPr lvl="1"/>
            <a:r>
              <a:rPr lang="cs-CZ"/>
              <a:t>Tým Windows Apps &amp; GUI</a:t>
            </a:r>
          </a:p>
          <a:p>
            <a:endParaRPr lang="cs-CZ"/>
          </a:p>
          <a:p>
            <a:r>
              <a:rPr lang="cs-CZ"/>
              <a:t>Leuze</a:t>
            </a:r>
          </a:p>
          <a:p>
            <a:pPr lvl="1"/>
            <a:r>
              <a:rPr lang="cs-CZ"/>
              <a:t>Založeno v roce 1963 v německém Owenu</a:t>
            </a:r>
          </a:p>
          <a:p>
            <a:pPr lvl="1"/>
            <a:r>
              <a:rPr lang="cs-CZ"/>
              <a:t>Vývoj, výroba, prodej průmyslových sensorů </a:t>
            </a:r>
            <a:br>
              <a:rPr lang="cs-CZ"/>
            </a:br>
            <a:r>
              <a:rPr lang="cs-CZ"/>
              <a:t>a zařízení pro průmyslovou automatizaci</a:t>
            </a:r>
          </a:p>
          <a:p>
            <a:pPr lvl="1"/>
            <a:r>
              <a:rPr lang="cs-CZ"/>
              <a:t>Intralogistika, automotive, potravinářství</a:t>
            </a:r>
          </a:p>
          <a:p>
            <a:pPr lvl="1"/>
            <a:r>
              <a:rPr lang="cs-CZ"/>
              <a:t>Leuze Engineering Czech má pobočky v Plzni, </a:t>
            </a:r>
            <a:br>
              <a:rPr lang="cs-CZ"/>
            </a:br>
            <a:r>
              <a:rPr lang="cs-CZ"/>
              <a:t>Českých Budějovicích a Ostravě</a:t>
            </a:r>
          </a:p>
          <a:p>
            <a:pPr marL="216000" lvl="1" indent="0">
              <a:buNone/>
            </a:pPr>
            <a:endParaRPr lang="cs-CZ"/>
          </a:p>
          <a:p>
            <a:pPr lvl="1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7E97F1-5EC1-6E9C-08A5-C7B092BF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Představení</a:t>
            </a:r>
            <a:endParaRPr lang="en-US"/>
          </a:p>
        </p:txBody>
      </p:sp>
      <p:pic>
        <p:nvPicPr>
          <p:cNvPr id="1026" name="Picture 2" descr="Není k dispozici žádný popis fotky.">
            <a:extLst>
              <a:ext uri="{FF2B5EF4-FFF2-40B4-BE49-F238E27FC236}">
                <a16:creationId xmlns:a16="http://schemas.microsoft.com/office/drawing/2014/main" id="{02795297-72A3-855D-B108-B1BE878E2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221" y="1206159"/>
            <a:ext cx="4982308" cy="260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A18A86B-E8F7-2C23-C659-FA7C492F7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246" y="4016131"/>
            <a:ext cx="3858918" cy="272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651B4-E53F-905D-F356-EECCB4788E1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8A49F-DF47-1926-8050-5AB21C8946F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E251D-DB40-308C-1836-0D97164609C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794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434F-1E56-F689-1FA4-AB726C95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AB1D07-FBBA-18FB-AFAB-37518DDDA8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cs-CZ"/>
              <a:t>Leuze webConfig – proč a jak?</a:t>
            </a:r>
          </a:p>
          <a:p>
            <a:pPr marL="342900" indent="-342900">
              <a:buFont typeface="+mj-lt"/>
              <a:buAutoNum type="arabicPeriod"/>
            </a:pPr>
            <a:r>
              <a:rPr lang="cs-CZ"/>
              <a:t>GUI Library</a:t>
            </a:r>
          </a:p>
          <a:p>
            <a:pPr marL="342900" indent="-342900">
              <a:buFont typeface="+mj-lt"/>
              <a:buAutoNum type="arabicPeriod"/>
            </a:pPr>
            <a:r>
              <a:rPr lang="cs-CZ"/>
              <a:t>Programovací jazyky - úvod</a:t>
            </a:r>
          </a:p>
          <a:p>
            <a:pPr marL="342900" indent="-342900">
              <a:buFont typeface="+mj-lt"/>
              <a:buAutoNum type="arabicPeriod"/>
            </a:pPr>
            <a:r>
              <a:rPr lang="cs-CZ"/>
              <a:t>Framework</a:t>
            </a:r>
          </a:p>
          <a:p>
            <a:pPr marL="342900" indent="-342900">
              <a:buFont typeface="+mj-lt"/>
              <a:buAutoNum type="arabicPeriod"/>
            </a:pPr>
            <a:r>
              <a:rPr lang="cs-CZ"/>
              <a:t>ASP.NET Core</a:t>
            </a:r>
          </a:p>
          <a:p>
            <a:pPr marL="342900" indent="-342900">
              <a:buFont typeface="+mj-lt"/>
              <a:buAutoNum type="arabicPeriod"/>
            </a:pPr>
            <a:r>
              <a:rPr lang="cs-CZ"/>
              <a:t>Co je Blazor?</a:t>
            </a:r>
          </a:p>
          <a:p>
            <a:pPr marL="342900" indent="-342900">
              <a:buFont typeface="+mj-lt"/>
              <a:buAutoNum type="arabicPeriod"/>
            </a:pPr>
            <a:r>
              <a:rPr lang="cs-CZ"/>
              <a:t>Shrnutí</a:t>
            </a:r>
          </a:p>
          <a:p>
            <a:pPr lvl="2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BCD41B-473C-D3A5-8F02-26FDA475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Agenda</a:t>
            </a:r>
            <a:endParaRPr lang="en-US"/>
          </a:p>
        </p:txBody>
      </p:sp>
      <p:pic>
        <p:nvPicPr>
          <p:cNvPr id="2050" name="Picture 2" descr="Flat Agenda List Clipboard Design Style Cartoon Illustration Drawing  2503041 Vector Art at Vecteezy">
            <a:extLst>
              <a:ext uri="{FF2B5EF4-FFF2-40B4-BE49-F238E27FC236}">
                <a16:creationId xmlns:a16="http://schemas.microsoft.com/office/drawing/2014/main" id="{D2D8CA70-6918-05B2-7FE3-55BA616B9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027" y="1603717"/>
            <a:ext cx="3756074" cy="375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3732C-2285-E1F2-D03F-454EE0153E5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064FE-8A9D-779E-9A76-FF833226387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2F16B-D14F-CA02-53F1-E94F4236EF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573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5CA0047-314C-94B9-4CE6-70A7E8323C7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" r="508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F110276-DE1B-22DA-C714-4BC0186F1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Leuze webConfig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7153C2-47BF-4AEE-DFCA-70F6766FF2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8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D35F6-DEF7-6B32-DFFB-1088AD8DD60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498E7-AA18-7BA3-E026-5FED016B0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412875"/>
            <a:ext cx="11593288" cy="4895849"/>
          </a:xfrm>
        </p:spPr>
        <p:txBody>
          <a:bodyPr/>
          <a:lstStyle/>
          <a:p>
            <a:pPr lvl="1"/>
            <a:r>
              <a:rPr lang="cs-CZ"/>
              <a:t>Smart Sensor Platform – pokročilé senzory a další zařízení, vyžadující komplexní konfiguraci</a:t>
            </a:r>
          </a:p>
          <a:p>
            <a:pPr lvl="1"/>
            <a:r>
              <a:rPr lang="cs-CZ"/>
              <a:t>Speciální hardware, různé architektury</a:t>
            </a:r>
          </a:p>
          <a:p>
            <a:pPr lvl="2"/>
            <a:r>
              <a:rPr lang="cs-CZ"/>
              <a:t>NetX, Omap, Linux x86, Linux ARM…</a:t>
            </a:r>
          </a:p>
          <a:p>
            <a:pPr lvl="1"/>
            <a:r>
              <a:rPr lang="cs-CZ"/>
              <a:t>Různé principy funkce</a:t>
            </a:r>
          </a:p>
          <a:p>
            <a:pPr lvl="2"/>
            <a:r>
              <a:rPr lang="cs-CZ"/>
              <a:t>Laser, LED, kamery, rozpoznávání…</a:t>
            </a:r>
          </a:p>
          <a:p>
            <a:pPr lvl="1"/>
            <a:endParaRPr lang="cs-CZ"/>
          </a:p>
          <a:p>
            <a:pPr lvl="1"/>
            <a:r>
              <a:rPr lang="cs-CZ"/>
              <a:t>webConfig samotný existuje přes patnáct let</a:t>
            </a:r>
          </a:p>
          <a:p>
            <a:pPr lvl="1"/>
            <a:r>
              <a:rPr lang="cs-CZ"/>
              <a:t>Zároveň pořád přibývají nová zařízení</a:t>
            </a:r>
          </a:p>
          <a:p>
            <a:pPr lvl="2"/>
            <a:r>
              <a:rPr lang="cs-CZ"/>
              <a:t>Konzultace a odhady design phase</a:t>
            </a:r>
          </a:p>
          <a:p>
            <a:pPr lvl="1"/>
            <a:endParaRPr lang="cs-CZ"/>
          </a:p>
          <a:p>
            <a:pPr lvl="1"/>
            <a:endParaRPr lang="cs-CZ">
              <a:highlight>
                <a:srgbClr val="FFFF00"/>
              </a:highlight>
            </a:endParaRPr>
          </a:p>
          <a:p>
            <a:pPr lvl="1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3905D3-8FF0-1576-6B2D-EE95F3AB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Leuze </a:t>
            </a:r>
            <a:r>
              <a:rPr lang="cs-CZ" err="1"/>
              <a:t>webConfig</a:t>
            </a:r>
            <a:endParaRPr lang="en-US"/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220CC689-1D76-8977-7C7F-52EC0F70E47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41666" y="6521259"/>
            <a:ext cx="498694" cy="131281"/>
          </a:xfrm>
        </p:spPr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B2BA60-6399-98BF-20B0-376E42B9E5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67839" y="6519655"/>
            <a:ext cx="4912137" cy="134490"/>
          </a:xfrm>
        </p:spPr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32CDD-35FA-3E9F-0206-10BF45002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976" y="2174400"/>
            <a:ext cx="5536278" cy="33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6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08BEB-E61F-8193-3CC4-1999F028A14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99A89-1A09-99E7-D34B-529D986C18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D4C2F-A24D-75CF-6A4E-31E2D4C9547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1B13E5-21A9-CC67-BDF2-292B6265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Legacy webConfig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C2324-7C86-D339-6BCD-2E6533EB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35" y="1063216"/>
            <a:ext cx="10630178" cy="53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8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5ABA73-7D82-063E-C536-E8B9B2728F2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D872B-CEF0-27E1-AEB8-89F86B7121E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A9DDF-7C69-0DA4-18F1-369F7FBA3F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3B267-EB6D-95D3-A4D6-58A7A3EFD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80" y="1265139"/>
            <a:ext cx="8847840" cy="5078479"/>
          </a:xfrm>
          <a:prstGeom prst="rect">
            <a:avLst/>
          </a:prstGeom>
        </p:spPr>
      </p:pic>
      <p:sp>
        <p:nvSpPr>
          <p:cNvPr id="9" name="Title 5">
            <a:extLst>
              <a:ext uri="{FF2B5EF4-FFF2-40B4-BE49-F238E27FC236}">
                <a16:creationId xmlns:a16="http://schemas.microsoft.com/office/drawing/2014/main" id="{C040067E-2E5A-0183-126B-BE6498B29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603026"/>
            <a:ext cx="9361040" cy="305694"/>
          </a:xfrm>
        </p:spPr>
        <p:txBody>
          <a:bodyPr/>
          <a:lstStyle/>
          <a:p>
            <a:r>
              <a:rPr lang="cs-CZ"/>
              <a:t>webConfig NextGen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D35F6-DEF7-6B32-DFFB-1088AD8DD60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498E7-AA18-7BA3-E026-5FED016B0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1"/>
            <a:endParaRPr lang="cs-CZ">
              <a:highlight>
                <a:srgbClr val="FFFF00"/>
              </a:highlight>
            </a:endParaRPr>
          </a:p>
          <a:p>
            <a:pPr lvl="1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3905D3-8FF0-1576-6B2D-EE95F3AB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Leuze webConfig - integrace</a:t>
            </a:r>
            <a:endParaRPr lang="en-US"/>
          </a:p>
        </p:txBody>
      </p:sp>
      <p:pic>
        <p:nvPicPr>
          <p:cNvPr id="1028" name="Picture 4" descr="AMS 107i 40 BTA">
            <a:extLst>
              <a:ext uri="{FF2B5EF4-FFF2-40B4-BE49-F238E27FC236}">
                <a16:creationId xmlns:a16="http://schemas.microsoft.com/office/drawing/2014/main" id="{D5441EF8-FB42-022A-D42B-73D4C2AD8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187" y="3836581"/>
            <a:ext cx="1220037" cy="11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or Illustration purposes only">
            <a:extLst>
              <a:ext uri="{FF2B5EF4-FFF2-40B4-BE49-F238E27FC236}">
                <a16:creationId xmlns:a16="http://schemas.microsoft.com/office/drawing/2014/main" id="{D59BA158-3993-981D-F16D-423C9EF8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488" y="3748753"/>
            <a:ext cx="1098996" cy="137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or Illustration purposes only">
            <a:extLst>
              <a:ext uri="{FF2B5EF4-FFF2-40B4-BE49-F238E27FC236}">
                <a16:creationId xmlns:a16="http://schemas.microsoft.com/office/drawing/2014/main" id="{47E1274B-49E8-D0F8-9203-DB3F87617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99" y="3955511"/>
            <a:ext cx="946127" cy="113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4E66A2C-E92C-37BE-EFA3-171B92F81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310" y="4014306"/>
            <a:ext cx="761762" cy="89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or Illustration purposes only">
            <a:extLst>
              <a:ext uri="{FF2B5EF4-FFF2-40B4-BE49-F238E27FC236}">
                <a16:creationId xmlns:a16="http://schemas.microsoft.com/office/drawing/2014/main" id="{992EEF03-21FA-2D88-7CC2-C9B7CD39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66" y="3985593"/>
            <a:ext cx="971327" cy="104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or Illustration purposes only">
            <a:extLst>
              <a:ext uri="{FF2B5EF4-FFF2-40B4-BE49-F238E27FC236}">
                <a16:creationId xmlns:a16="http://schemas.microsoft.com/office/drawing/2014/main" id="{80B1D528-982D-1B27-80B5-0B9C3684E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077" y="3910693"/>
            <a:ext cx="1211184" cy="101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For Illustration purposes only">
            <a:extLst>
              <a:ext uri="{FF2B5EF4-FFF2-40B4-BE49-F238E27FC236}">
                <a16:creationId xmlns:a16="http://schemas.microsoft.com/office/drawing/2014/main" id="{9AEF09DB-AF44-331E-5F55-FCE13B80B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398" y="3836581"/>
            <a:ext cx="942381" cy="104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or Illustration purposes only">
            <a:extLst>
              <a:ext uri="{FF2B5EF4-FFF2-40B4-BE49-F238E27FC236}">
                <a16:creationId xmlns:a16="http://schemas.microsoft.com/office/drawing/2014/main" id="{5C0D769A-5ECD-B659-367E-593DA7412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272" y="3999724"/>
            <a:ext cx="702258" cy="83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euze electronic introduces CMS 700i 3D contour measurement system">
            <a:extLst>
              <a:ext uri="{FF2B5EF4-FFF2-40B4-BE49-F238E27FC236}">
                <a16:creationId xmlns:a16="http://schemas.microsoft.com/office/drawing/2014/main" id="{7420A20A-DD84-C91E-A363-0239581D25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2" r="17968"/>
          <a:stretch/>
        </p:blipFill>
        <p:spPr bwMode="auto">
          <a:xfrm>
            <a:off x="9120336" y="3923407"/>
            <a:ext cx="1049552" cy="104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9BCBB6-7BE0-5257-380C-50E1C2760890}"/>
              </a:ext>
            </a:extLst>
          </p:cNvPr>
          <p:cNvSpPr/>
          <p:nvPr/>
        </p:nvSpPr>
        <p:spPr>
          <a:xfrm>
            <a:off x="335360" y="2108191"/>
            <a:ext cx="1976830" cy="8214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2000">
                <a:solidFill>
                  <a:schemeClr val="tx1"/>
                </a:solidFill>
              </a:rPr>
              <a:t>Identifikace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28F75C-4735-91E3-C286-8C0BFA47DE7F}"/>
              </a:ext>
            </a:extLst>
          </p:cNvPr>
          <p:cNvSpPr/>
          <p:nvPr/>
        </p:nvSpPr>
        <p:spPr>
          <a:xfrm>
            <a:off x="4856289" y="2097109"/>
            <a:ext cx="5200151" cy="83249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2000">
                <a:solidFill>
                  <a:schemeClr val="tx1"/>
                </a:solidFill>
              </a:rPr>
              <a:t>Měření 1D, 3D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EBA775-32EE-90CF-5C42-24E47432C0B4}"/>
              </a:ext>
            </a:extLst>
          </p:cNvPr>
          <p:cNvSpPr/>
          <p:nvPr/>
        </p:nvSpPr>
        <p:spPr>
          <a:xfrm>
            <a:off x="10200456" y="2097109"/>
            <a:ext cx="1624587" cy="8214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2000">
                <a:solidFill>
                  <a:schemeClr val="tx1"/>
                </a:solidFill>
              </a:rPr>
              <a:t>Komunikace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5640D1-2FA5-26A1-C6B4-87CB3DBEA07B}"/>
              </a:ext>
            </a:extLst>
          </p:cNvPr>
          <p:cNvSpPr/>
          <p:nvPr/>
        </p:nvSpPr>
        <p:spPr>
          <a:xfrm>
            <a:off x="2456009" y="2108191"/>
            <a:ext cx="2271839" cy="8214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2000">
                <a:solidFill>
                  <a:schemeClr val="tx1"/>
                </a:solidFill>
              </a:rPr>
              <a:t>Pozicování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97EEBD-0AD4-7D00-9D08-B0C40FEFC0BB}"/>
              </a:ext>
            </a:extLst>
          </p:cNvPr>
          <p:cNvSpPr/>
          <p:nvPr/>
        </p:nvSpPr>
        <p:spPr>
          <a:xfrm>
            <a:off x="316506" y="3024000"/>
            <a:ext cx="971327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DCR</a:t>
            </a:r>
            <a:br>
              <a:rPr lang="cs-CZ">
                <a:solidFill>
                  <a:schemeClr val="tx1"/>
                </a:solidFill>
              </a:rPr>
            </a:br>
            <a:r>
              <a:rPr lang="cs-CZ">
                <a:solidFill>
                  <a:schemeClr val="tx1"/>
                </a:solidFill>
              </a:rPr>
              <a:t>200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04EF6D-B45C-6A65-275B-49E01904AFC0}"/>
              </a:ext>
            </a:extLst>
          </p:cNvPr>
          <p:cNvSpPr/>
          <p:nvPr/>
        </p:nvSpPr>
        <p:spPr>
          <a:xfrm>
            <a:off x="1340863" y="3024000"/>
            <a:ext cx="971327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BCL</a:t>
            </a:r>
            <a:br>
              <a:rPr lang="cs-CZ">
                <a:solidFill>
                  <a:schemeClr val="tx1"/>
                </a:solidFill>
              </a:rPr>
            </a:br>
            <a:r>
              <a:rPr lang="cs-CZ">
                <a:solidFill>
                  <a:schemeClr val="tx1"/>
                </a:solidFill>
              </a:rPr>
              <a:t>víc řad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226BE9-0993-2CF2-E55F-82A126022E01}"/>
              </a:ext>
            </a:extLst>
          </p:cNvPr>
          <p:cNvSpPr/>
          <p:nvPr/>
        </p:nvSpPr>
        <p:spPr>
          <a:xfrm>
            <a:off x="2456009" y="3024000"/>
            <a:ext cx="1059355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BPS</a:t>
            </a:r>
            <a:br>
              <a:rPr lang="cs-CZ">
                <a:solidFill>
                  <a:schemeClr val="tx1"/>
                </a:solidFill>
              </a:rPr>
            </a:br>
            <a:r>
              <a:rPr lang="cs-CZ">
                <a:solidFill>
                  <a:schemeClr val="tx1"/>
                </a:solidFill>
              </a:rPr>
              <a:t>300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DDD01B-B5EC-8B41-E8CF-F54A17941515}"/>
              </a:ext>
            </a:extLst>
          </p:cNvPr>
          <p:cNvSpPr/>
          <p:nvPr/>
        </p:nvSpPr>
        <p:spPr>
          <a:xfrm>
            <a:off x="3615682" y="3024000"/>
            <a:ext cx="1059354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FBPS</a:t>
            </a:r>
            <a:br>
              <a:rPr lang="cs-CZ">
                <a:solidFill>
                  <a:schemeClr val="tx1"/>
                </a:solidFill>
              </a:rPr>
            </a:br>
            <a:r>
              <a:rPr lang="cs-CZ">
                <a:solidFill>
                  <a:schemeClr val="tx1"/>
                </a:solidFill>
              </a:rPr>
              <a:t>600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18360F-D168-4283-4D13-CA36B4448DD0}"/>
              </a:ext>
            </a:extLst>
          </p:cNvPr>
          <p:cNvSpPr/>
          <p:nvPr/>
        </p:nvSpPr>
        <p:spPr>
          <a:xfrm>
            <a:off x="5916088" y="3024000"/>
            <a:ext cx="972000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IPS</a:t>
            </a:r>
            <a:br>
              <a:rPr lang="cs-CZ">
                <a:solidFill>
                  <a:schemeClr val="tx1"/>
                </a:solidFill>
              </a:rPr>
            </a:br>
            <a:r>
              <a:rPr lang="cs-CZ">
                <a:solidFill>
                  <a:schemeClr val="tx1"/>
                </a:solidFill>
              </a:rPr>
              <a:t>400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64BE95-DD11-20D6-1342-08DC18A17665}"/>
              </a:ext>
            </a:extLst>
          </p:cNvPr>
          <p:cNvSpPr/>
          <p:nvPr/>
        </p:nvSpPr>
        <p:spPr>
          <a:xfrm>
            <a:off x="4855922" y="3024000"/>
            <a:ext cx="972000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IPS 200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9803A33-23A7-5E99-1625-FBC11445E42D}"/>
              </a:ext>
            </a:extLst>
          </p:cNvPr>
          <p:cNvSpPr/>
          <p:nvPr/>
        </p:nvSpPr>
        <p:spPr>
          <a:xfrm>
            <a:off x="6960096" y="3024000"/>
            <a:ext cx="972000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AMS 100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 descr="Image result for leuze ams 100">
            <a:extLst>
              <a:ext uri="{FF2B5EF4-FFF2-40B4-BE49-F238E27FC236}">
                <a16:creationId xmlns:a16="http://schemas.microsoft.com/office/drawing/2014/main" id="{1A15CE95-479D-8B28-0B16-C0C939C65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458" y="3977051"/>
            <a:ext cx="858862" cy="9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F1E004-394D-A782-EA65-E844DD12D169}"/>
              </a:ext>
            </a:extLst>
          </p:cNvPr>
          <p:cNvSpPr/>
          <p:nvPr/>
        </p:nvSpPr>
        <p:spPr>
          <a:xfrm>
            <a:off x="8040216" y="3024000"/>
            <a:ext cx="972000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AMS 300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F459C3-6656-679B-1ADE-BC16A75C76A9}"/>
              </a:ext>
            </a:extLst>
          </p:cNvPr>
          <p:cNvSpPr/>
          <p:nvPr/>
        </p:nvSpPr>
        <p:spPr>
          <a:xfrm>
            <a:off x="9084440" y="3024000"/>
            <a:ext cx="972000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CMS</a:t>
            </a:r>
            <a:br>
              <a:rPr lang="cs-CZ">
                <a:solidFill>
                  <a:schemeClr val="tx1"/>
                </a:solidFill>
              </a:rPr>
            </a:br>
            <a:r>
              <a:rPr lang="cs-CZ">
                <a:solidFill>
                  <a:schemeClr val="tx1"/>
                </a:solidFill>
              </a:rPr>
              <a:t>700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4B97A0-47DA-A180-D276-99980D846A42}"/>
              </a:ext>
            </a:extLst>
          </p:cNvPr>
          <p:cNvSpPr/>
          <p:nvPr/>
        </p:nvSpPr>
        <p:spPr>
          <a:xfrm>
            <a:off x="10200456" y="3024000"/>
            <a:ext cx="1624587" cy="80870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>
                <a:solidFill>
                  <a:schemeClr val="tx1"/>
                </a:solidFill>
              </a:rPr>
              <a:t>DDLS</a:t>
            </a:r>
            <a:br>
              <a:rPr lang="cs-CZ">
                <a:solidFill>
                  <a:schemeClr val="tx1"/>
                </a:solidFill>
              </a:rPr>
            </a:br>
            <a:r>
              <a:rPr lang="cs-CZ">
                <a:solidFill>
                  <a:schemeClr val="tx1"/>
                </a:solidFill>
              </a:rPr>
              <a:t>500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BD9DA2E-6198-9679-2131-B302E093DB54}"/>
              </a:ext>
            </a:extLst>
          </p:cNvPr>
          <p:cNvSpPr/>
          <p:nvPr/>
        </p:nvSpPr>
        <p:spPr>
          <a:xfrm>
            <a:off x="335360" y="1156345"/>
            <a:ext cx="11489683" cy="83249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4000" err="1">
                <a:solidFill>
                  <a:schemeClr val="bg1"/>
                </a:solidFill>
              </a:rPr>
              <a:t>Common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51F332C-F009-5298-D962-B7026C97BB97}"/>
              </a:ext>
            </a:extLst>
          </p:cNvPr>
          <p:cNvSpPr/>
          <p:nvPr/>
        </p:nvSpPr>
        <p:spPr>
          <a:xfrm>
            <a:off x="282798" y="5092385"/>
            <a:ext cx="971327" cy="121633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1200">
                <a:solidFill>
                  <a:schemeClr val="tx1"/>
                </a:solidFill>
              </a:rPr>
              <a:t>202</a:t>
            </a:r>
            <a:br>
              <a:rPr lang="cs-CZ" sz="1200">
                <a:solidFill>
                  <a:schemeClr val="tx1"/>
                </a:solidFill>
              </a:rPr>
            </a:br>
            <a:r>
              <a:rPr lang="cs-CZ" sz="1200">
                <a:solidFill>
                  <a:schemeClr val="tx1"/>
                </a:solidFill>
              </a:rPr>
              <a:t>248</a:t>
            </a:r>
            <a:br>
              <a:rPr lang="cs-CZ" sz="1200">
                <a:solidFill>
                  <a:schemeClr val="tx1"/>
                </a:solidFill>
              </a:rPr>
            </a:br>
            <a:r>
              <a:rPr lang="cs-CZ" sz="1200">
                <a:solidFill>
                  <a:schemeClr val="tx1"/>
                </a:solidFill>
              </a:rPr>
              <a:t>258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1200">
                <a:solidFill>
                  <a:schemeClr val="tx1"/>
                </a:solidFill>
              </a:rPr>
              <a:t>...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D0E5A5-0AFA-26B2-8890-0F23FFFBFFAE}"/>
              </a:ext>
            </a:extLst>
          </p:cNvPr>
          <p:cNvSpPr/>
          <p:nvPr/>
        </p:nvSpPr>
        <p:spPr>
          <a:xfrm>
            <a:off x="1363189" y="5092385"/>
            <a:ext cx="971327" cy="121633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700">
                <a:solidFill>
                  <a:schemeClr val="tx1"/>
                </a:solidFill>
              </a:rPr>
              <a:t>300</a:t>
            </a:r>
            <a:br>
              <a:rPr lang="cs-CZ" sz="700">
                <a:solidFill>
                  <a:schemeClr val="tx1"/>
                </a:solidFill>
              </a:rPr>
            </a:br>
            <a:r>
              <a:rPr lang="cs-CZ" sz="700">
                <a:solidFill>
                  <a:schemeClr val="tx1"/>
                </a:solidFill>
              </a:rPr>
              <a:t>301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700">
                <a:solidFill>
                  <a:schemeClr val="tx1"/>
                </a:solidFill>
              </a:rPr>
              <a:t>…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700">
                <a:solidFill>
                  <a:schemeClr val="tx1"/>
                </a:solidFill>
              </a:rPr>
              <a:t>338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700">
                <a:solidFill>
                  <a:schemeClr val="tx1"/>
                </a:solidFill>
              </a:rPr>
              <a:t>348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700">
                <a:solidFill>
                  <a:schemeClr val="tx1"/>
                </a:solidFill>
              </a:rPr>
              <a:t>358</a:t>
            </a:r>
          </a:p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700">
                <a:solidFill>
                  <a:schemeClr val="tx1"/>
                </a:solidFill>
              </a:rPr>
              <a:t>…</a:t>
            </a:r>
            <a:br>
              <a:rPr lang="cs-CZ" sz="700">
                <a:solidFill>
                  <a:schemeClr val="tx1"/>
                </a:solidFill>
              </a:rPr>
            </a:b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8DCEACA-67A8-A8AB-2EBC-84D8BD29BB19}"/>
              </a:ext>
            </a:extLst>
          </p:cNvPr>
          <p:cNvSpPr/>
          <p:nvPr/>
        </p:nvSpPr>
        <p:spPr>
          <a:xfrm>
            <a:off x="2685731" y="5092385"/>
            <a:ext cx="9139312" cy="121633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  <a:buClr>
                <a:schemeClr val="accent1"/>
              </a:buClr>
            </a:pPr>
            <a:r>
              <a:rPr lang="cs-CZ" sz="1200">
                <a:solidFill>
                  <a:schemeClr val="tx1"/>
                </a:solidFill>
              </a:rPr>
              <a:t>… každá řada má jednotky až desítky konfigurací: fyzické rozhraní, </a:t>
            </a:r>
            <a:r>
              <a:rPr lang="cs-CZ" sz="1200" err="1">
                <a:solidFill>
                  <a:schemeClr val="tx1"/>
                </a:solidFill>
              </a:rPr>
              <a:t>fieldbus</a:t>
            </a:r>
            <a:r>
              <a:rPr lang="cs-CZ" sz="1200">
                <a:solidFill>
                  <a:schemeClr val="tx1"/>
                </a:solidFill>
              </a:rPr>
              <a:t>, mechanika + optika, displej atd.</a:t>
            </a:r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2ED7BD91-0413-018D-B7E9-BE36E67E6968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41666" y="6521259"/>
            <a:ext cx="498694" cy="131281"/>
          </a:xfrm>
        </p:spPr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4D397F29-C40F-EC8E-B34C-16C4A2F4837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67839" y="6519655"/>
            <a:ext cx="4912137" cy="134490"/>
          </a:xfrm>
        </p:spPr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15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FFA3F-7CDA-7F6D-9728-09AA91B0137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8431F-039B-A808-7CE1-DBE5AC4CD9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769C3-3E0E-FC9A-8497-0D48FC28458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A03FB-414C-124B-878D-57F2382C85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/>
              <a:t>Omezené HW možnosti sensorů</a:t>
            </a:r>
          </a:p>
          <a:p>
            <a:r>
              <a:rPr lang="cs-CZ"/>
              <a:t>Volba:</a:t>
            </a:r>
          </a:p>
          <a:p>
            <a:pPr lvl="1"/>
            <a:r>
              <a:rPr lang="cs-CZ"/>
              <a:t>Angular, React, Vue, Blazor</a:t>
            </a:r>
          </a:p>
          <a:p>
            <a:r>
              <a:rPr lang="cs-CZ"/>
              <a:t>Zvolen Blazor</a:t>
            </a:r>
          </a:p>
          <a:p>
            <a:pPr lvl="1"/>
            <a:r>
              <a:rPr lang="cs-CZ"/>
              <a:t>C# vývoj</a:t>
            </a:r>
          </a:p>
          <a:p>
            <a:pPr lvl="1"/>
            <a:r>
              <a:rPr lang="cs-CZ"/>
              <a:t>Použití pro další účely webového vývoje</a:t>
            </a:r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E82A6D-CDE7-DA49-DC7A-8AB56FAD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Technologie</a:t>
            </a:r>
            <a:endParaRPr lang="en-US"/>
          </a:p>
        </p:txBody>
      </p:sp>
      <p:pic>
        <p:nvPicPr>
          <p:cNvPr id="7" name="Picture 12" descr="Exploring WebWindow examples for Blazor on desktop">
            <a:extLst>
              <a:ext uri="{FF2B5EF4-FFF2-40B4-BE49-F238E27FC236}">
                <a16:creationId xmlns:a16="http://schemas.microsoft.com/office/drawing/2014/main" id="{8A8E60FD-E22B-7B93-D193-B255E211C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7" r="22721"/>
          <a:stretch/>
        </p:blipFill>
        <p:spPr bwMode="auto">
          <a:xfrm>
            <a:off x="5720694" y="3077223"/>
            <a:ext cx="2008844" cy="173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95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B5C265-0239-5AC5-91D9-40426A7FC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GUI Library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11A197-A6FC-1702-970E-A5B9B5E633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2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FE767-5485-6372-3C0E-DAF0FC7F264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21450"/>
            <a:ext cx="498475" cy="131763"/>
          </a:xfrm>
        </p:spPr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E0687-C1C3-1566-43AD-B173B537174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19863"/>
            <a:ext cx="4911725" cy="134937"/>
          </a:xfrm>
        </p:spPr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E18E8-6AFB-9CA0-5FC2-8092298E8D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1450"/>
            <a:ext cx="431800" cy="131763"/>
          </a:xfrm>
        </p:spPr>
        <p:txBody>
          <a:bodyPr/>
          <a:lstStyle/>
          <a:p>
            <a:fld id="{CF689FB0-066A-489F-A436-57C0882AEA4C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21" name="Picture Placeholder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C142B1-891F-2F45-99DF-520D9CA21B5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" r="188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28457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FCC444-943B-883C-C3E5-286FC83B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GUI knihovna a kitchen sink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BE42B-ADD1-8991-0919-BE0765E53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399" y="1178336"/>
            <a:ext cx="9184491" cy="5182863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81A4E17-91D9-F79E-2A1E-DEB4D2C3235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456B95B-B54E-CE6D-D537-2134116EE8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30A9685-AEB9-41EF-0AFC-D90BFFBE25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020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ubes of different colors on a keyboard&#10;&#10;AI-generated content may be incorrect.">
            <a:extLst>
              <a:ext uri="{FF2B5EF4-FFF2-40B4-BE49-F238E27FC236}">
                <a16:creationId xmlns:a16="http://schemas.microsoft.com/office/drawing/2014/main" id="{9DFB1B87-A9E0-80CA-7357-944D5F561EF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1" r="20311"/>
          <a:stretch>
            <a:fillRect/>
          </a:stretch>
        </p:blipFill>
        <p:spPr/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88088" y="2849530"/>
            <a:ext cx="3888432" cy="889474"/>
          </a:xfrm>
        </p:spPr>
        <p:txBody>
          <a:bodyPr/>
          <a:lstStyle/>
          <a:p>
            <a:r>
              <a:rPr lang="en-US" err="1"/>
              <a:t>Programovac</a:t>
            </a:r>
            <a:r>
              <a:rPr lang="cs-CZ"/>
              <a:t>í jazyky - úvod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3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791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F3BCB-5ACA-DE48-BE8A-CBCD9FB8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F2257BA-AD0F-046A-44B4-861AA813B44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15D1B29-5F3D-B460-AE3C-BDB78CC86F3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5A0264-7BF5-7042-48CF-D79EA58DB92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768A8D8-09FE-E2B1-AE60-9809F1D5C9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75327E2-2132-C783-5379-A36AE48FC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Programovac</a:t>
            </a:r>
            <a:r>
              <a:rPr lang="cs-CZ"/>
              <a:t>í jazyky</a:t>
            </a:r>
            <a:endParaRPr lang="de-DE"/>
          </a:p>
        </p:txBody>
      </p:sp>
      <p:pic>
        <p:nvPicPr>
          <p:cNvPr id="10" name="Picture 9" descr="A group of logos with letters&#10;&#10;AI-generated content may be incorrect.">
            <a:extLst>
              <a:ext uri="{FF2B5EF4-FFF2-40B4-BE49-F238E27FC236}">
                <a16:creationId xmlns:a16="http://schemas.microsoft.com/office/drawing/2014/main" id="{8C1424D8-A6C1-AE04-AFDC-95FE06424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25" y="1972276"/>
            <a:ext cx="10343949" cy="350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81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Programovac</a:t>
            </a:r>
            <a:r>
              <a:rPr lang="cs-CZ"/>
              <a:t>í jazyky</a:t>
            </a:r>
            <a:endParaRPr lang="de-D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1FE654-3097-B62A-1BB6-06FE229D6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89" y="1163735"/>
            <a:ext cx="3799954" cy="25544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B14500-86CC-1DDB-B116-D577FF494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4" y="1157860"/>
            <a:ext cx="3908037" cy="52141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B722E0-0DCC-13BB-C271-91BA62B1C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96" y="2093231"/>
            <a:ext cx="638264" cy="6954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1119D7-D0D8-F52F-0292-DE3DD1ADA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824" y="4653136"/>
            <a:ext cx="781207" cy="7105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0FCA18-276B-3A80-A899-CBA5CA202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635" y="3456857"/>
            <a:ext cx="792495" cy="8078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DF7604F-30E7-C31D-E8FC-92575751E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289" y="3901298"/>
            <a:ext cx="3799954" cy="22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93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1087-A42A-C08A-1CFE-F319AC67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FC50C20-695E-1F56-3EA3-9240AABE2C5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9CBB60-F9E0-D13B-CB0D-17CDB4F0F6D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A9D186-11F0-9400-DE87-5A94153347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708E9C-99A4-4E4B-82F0-97B746B43D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 dirty="0"/>
              <a:t>Python</a:t>
            </a:r>
            <a:r>
              <a:rPr lang="en-US" dirty="0"/>
              <a:t> 	</a:t>
            </a:r>
            <a:r>
              <a:rPr lang="en-US" dirty="0" err="1"/>
              <a:t>Jednoduchá</a:t>
            </a:r>
            <a:r>
              <a:rPr lang="en-US" dirty="0"/>
              <a:t> </a:t>
            </a:r>
            <a:r>
              <a:rPr lang="en-US" dirty="0" err="1"/>
              <a:t>syntaxe</a:t>
            </a:r>
            <a:r>
              <a:rPr lang="en-US" dirty="0"/>
              <a:t>, </a:t>
            </a:r>
            <a:r>
              <a:rPr lang="en-US" dirty="0" err="1"/>
              <a:t>široké</a:t>
            </a:r>
            <a:r>
              <a:rPr lang="en-US" dirty="0"/>
              <a:t> </a:t>
            </a:r>
            <a:r>
              <a:rPr lang="en-US" dirty="0" err="1"/>
              <a:t>použití</a:t>
            </a:r>
            <a:r>
              <a:rPr lang="en-US" dirty="0"/>
              <a:t> (AI, data, web), </a:t>
            </a:r>
            <a:r>
              <a:rPr lang="en-US" dirty="0" err="1"/>
              <a:t>obrovská</a:t>
            </a:r>
            <a:r>
              <a:rPr lang="en-US" dirty="0"/>
              <a:t> </a:t>
            </a:r>
            <a:r>
              <a:rPr lang="en-US" dirty="0" err="1"/>
              <a:t>komunita</a:t>
            </a:r>
            <a:endParaRPr lang="cs-CZ" dirty="0"/>
          </a:p>
          <a:p>
            <a:r>
              <a:rPr lang="cs-CZ" dirty="0"/>
              <a:t>JavaScript</a:t>
            </a:r>
            <a:r>
              <a:rPr lang="en-US" dirty="0"/>
              <a:t> 	</a:t>
            </a:r>
            <a:r>
              <a:rPr lang="en-US" dirty="0" err="1"/>
              <a:t>Dominantní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webovém</a:t>
            </a:r>
            <a:r>
              <a:rPr lang="en-US" dirty="0"/>
              <a:t> </a:t>
            </a:r>
            <a:r>
              <a:rPr lang="en-US" dirty="0" err="1"/>
              <a:t>vývoji</a:t>
            </a:r>
            <a:r>
              <a:rPr lang="en-US" dirty="0"/>
              <a:t> pro frontend </a:t>
            </a:r>
            <a:r>
              <a:rPr lang="en-US" dirty="0" err="1"/>
              <a:t>i</a:t>
            </a:r>
            <a:r>
              <a:rPr lang="en-US" dirty="0"/>
              <a:t> backend</a:t>
            </a:r>
            <a:endParaRPr lang="cs-CZ" dirty="0"/>
          </a:p>
          <a:p>
            <a:r>
              <a:rPr lang="cs-CZ" dirty="0"/>
              <a:t>Java</a:t>
            </a:r>
            <a:r>
              <a:rPr lang="en-US" dirty="0"/>
              <a:t>		</a:t>
            </a:r>
            <a:r>
              <a:rPr lang="en-US" dirty="0" err="1"/>
              <a:t>Stabilní</a:t>
            </a:r>
            <a:r>
              <a:rPr lang="en-US" dirty="0"/>
              <a:t>, </a:t>
            </a:r>
            <a:r>
              <a:rPr lang="en-US" dirty="0" err="1"/>
              <a:t>multiplatformní</a:t>
            </a:r>
            <a:r>
              <a:rPr lang="en-US" dirty="0"/>
              <a:t>, </a:t>
            </a:r>
            <a:r>
              <a:rPr lang="en-US" dirty="0" err="1"/>
              <a:t>oblíbený</a:t>
            </a:r>
            <a:r>
              <a:rPr lang="en-US" dirty="0"/>
              <a:t> v enterprise a Android </a:t>
            </a:r>
            <a:r>
              <a:rPr lang="en-US" dirty="0" err="1"/>
              <a:t>vývoji</a:t>
            </a:r>
            <a:endParaRPr lang="cs-CZ" dirty="0"/>
          </a:p>
          <a:p>
            <a:r>
              <a:rPr lang="cs-CZ" dirty="0"/>
              <a:t>C++</a:t>
            </a:r>
            <a:r>
              <a:rPr lang="en-US" dirty="0"/>
              <a:t>		</a:t>
            </a:r>
            <a:r>
              <a:rPr lang="en-US" dirty="0" err="1"/>
              <a:t>Výkonný</a:t>
            </a:r>
            <a:r>
              <a:rPr lang="en-US" dirty="0"/>
              <a:t>, </a:t>
            </a:r>
            <a:r>
              <a:rPr lang="en-US" dirty="0" err="1"/>
              <a:t>vhodný</a:t>
            </a:r>
            <a:r>
              <a:rPr lang="en-US" dirty="0"/>
              <a:t> pro </a:t>
            </a:r>
            <a:r>
              <a:rPr lang="en-US" dirty="0" err="1"/>
              <a:t>systémové</a:t>
            </a:r>
            <a:r>
              <a:rPr lang="en-US" dirty="0"/>
              <a:t> </a:t>
            </a:r>
            <a:r>
              <a:rPr lang="en-US" dirty="0" err="1"/>
              <a:t>aplikace</a:t>
            </a:r>
            <a:r>
              <a:rPr lang="en-US" dirty="0"/>
              <a:t>, </a:t>
            </a:r>
            <a:r>
              <a:rPr lang="en-US" dirty="0" err="1"/>
              <a:t>hry</a:t>
            </a:r>
            <a:r>
              <a:rPr lang="en-US" dirty="0"/>
              <a:t>, embedded</a:t>
            </a:r>
            <a:endParaRPr lang="cs-CZ" dirty="0"/>
          </a:p>
          <a:p>
            <a:r>
              <a:rPr lang="cs-CZ" dirty="0"/>
              <a:t>C</a:t>
            </a:r>
            <a:r>
              <a:rPr lang="en-US" dirty="0"/>
              <a:t>#		</a:t>
            </a:r>
            <a:r>
              <a:rPr lang="en-US" b="1" dirty="0" err="1"/>
              <a:t>Silná</a:t>
            </a:r>
            <a:r>
              <a:rPr lang="en-US" b="1" dirty="0"/>
              <a:t> </a:t>
            </a:r>
            <a:r>
              <a:rPr lang="en-US" b="1" dirty="0" err="1"/>
              <a:t>integrace</a:t>
            </a:r>
            <a:r>
              <a:rPr lang="en-US" b="1" dirty="0"/>
              <a:t> s .NET, </a:t>
            </a:r>
            <a:r>
              <a:rPr lang="en-US" b="1" dirty="0" err="1"/>
              <a:t>vhodný</a:t>
            </a:r>
            <a:r>
              <a:rPr lang="en-US" b="1" dirty="0"/>
              <a:t> pro desktop, web, </a:t>
            </a:r>
            <a:r>
              <a:rPr lang="en-US" b="1" dirty="0" err="1"/>
              <a:t>hry</a:t>
            </a:r>
            <a:r>
              <a:rPr lang="en-US" b="1" dirty="0"/>
              <a:t> (Unity)</a:t>
            </a:r>
          </a:p>
          <a:p>
            <a:r>
              <a:rPr lang="en-US" dirty="0"/>
              <a:t>TypeScript	</a:t>
            </a:r>
            <a:r>
              <a:rPr lang="en-US" dirty="0" err="1"/>
              <a:t>Bezpečnější</a:t>
            </a:r>
            <a:r>
              <a:rPr lang="en-US" dirty="0"/>
              <a:t> JavaScript, </a:t>
            </a:r>
            <a:r>
              <a:rPr lang="en-US" dirty="0" err="1"/>
              <a:t>populární</a:t>
            </a:r>
            <a:r>
              <a:rPr lang="en-US" dirty="0"/>
              <a:t> v enterprise </a:t>
            </a:r>
            <a:r>
              <a:rPr lang="en-US" dirty="0" err="1"/>
              <a:t>aplikacích</a:t>
            </a:r>
            <a:endParaRPr lang="en-US" dirty="0"/>
          </a:p>
          <a:p>
            <a:r>
              <a:rPr lang="en-US" dirty="0"/>
              <a:t>Go		</a:t>
            </a:r>
            <a:r>
              <a:rPr lang="en-US" dirty="0" err="1"/>
              <a:t>Rychlý</a:t>
            </a:r>
            <a:r>
              <a:rPr lang="en-US" dirty="0"/>
              <a:t>, </a:t>
            </a:r>
            <a:r>
              <a:rPr lang="en-US" dirty="0" err="1"/>
              <a:t>ideální</a:t>
            </a:r>
            <a:r>
              <a:rPr lang="en-US" dirty="0"/>
              <a:t> pro cloud, DevOps, </a:t>
            </a:r>
            <a:r>
              <a:rPr lang="en-US" dirty="0" err="1"/>
              <a:t>mikroslužby</a:t>
            </a:r>
            <a:endParaRPr lang="en-US" dirty="0"/>
          </a:p>
          <a:p>
            <a:r>
              <a:rPr lang="en-US" dirty="0"/>
              <a:t>Rust</a:t>
            </a:r>
            <a:r>
              <a:rPr lang="cs-CZ" dirty="0"/>
              <a:t> </a:t>
            </a:r>
            <a:r>
              <a:rPr lang="en-US" dirty="0"/>
              <a:t>		</a:t>
            </a:r>
            <a:r>
              <a:rPr lang="fr-FR" dirty="0" err="1"/>
              <a:t>Bezpečnost</a:t>
            </a:r>
            <a:r>
              <a:rPr lang="fr-FR" dirty="0"/>
              <a:t>, </a:t>
            </a:r>
            <a:r>
              <a:rPr lang="fr-FR" dirty="0" err="1"/>
              <a:t>výkon</a:t>
            </a:r>
            <a:r>
              <a:rPr lang="fr-FR" dirty="0"/>
              <a:t>, </a:t>
            </a:r>
            <a:r>
              <a:rPr lang="fr-FR" dirty="0" err="1"/>
              <a:t>roste</a:t>
            </a:r>
            <a:r>
              <a:rPr lang="fr-FR" dirty="0"/>
              <a:t> v </a:t>
            </a:r>
            <a:r>
              <a:rPr lang="fr-FR" dirty="0" err="1"/>
              <a:t>systémovém</a:t>
            </a:r>
            <a:r>
              <a:rPr lang="fr-FR" dirty="0"/>
              <a:t> </a:t>
            </a:r>
            <a:r>
              <a:rPr lang="fr-FR" dirty="0" err="1"/>
              <a:t>vývoji</a:t>
            </a:r>
            <a:endParaRPr lang="en-US" dirty="0"/>
          </a:p>
          <a:p>
            <a:r>
              <a:rPr lang="en-US" dirty="0"/>
              <a:t>SQL		</a:t>
            </a:r>
            <a:r>
              <a:rPr lang="en-US" dirty="0" err="1"/>
              <a:t>Nezbytný</a:t>
            </a:r>
            <a:r>
              <a:rPr lang="en-US" dirty="0"/>
              <a:t> pro </a:t>
            </a:r>
            <a:r>
              <a:rPr lang="en-US" dirty="0" err="1"/>
              <a:t>práci</a:t>
            </a:r>
            <a:r>
              <a:rPr lang="en-US" dirty="0"/>
              <a:t> s </a:t>
            </a:r>
            <a:r>
              <a:rPr lang="en-US" dirty="0" err="1"/>
              <a:t>databázemi</a:t>
            </a:r>
            <a:r>
              <a:rPr lang="en-US" dirty="0"/>
              <a:t>, </a:t>
            </a:r>
            <a:r>
              <a:rPr lang="en-US" dirty="0" err="1"/>
              <a:t>stále</a:t>
            </a:r>
            <a:r>
              <a:rPr lang="en-US" dirty="0"/>
              <a:t> </a:t>
            </a:r>
            <a:r>
              <a:rPr lang="en-US" dirty="0" err="1"/>
              <a:t>široce</a:t>
            </a:r>
            <a:r>
              <a:rPr lang="en-US" dirty="0"/>
              <a:t> </a:t>
            </a:r>
            <a:r>
              <a:rPr lang="en-US" dirty="0" err="1"/>
              <a:t>používaný</a:t>
            </a:r>
            <a:endParaRPr lang="en-US" dirty="0"/>
          </a:p>
          <a:p>
            <a:r>
              <a:rPr lang="en-US" dirty="0"/>
              <a:t>PHP		</a:t>
            </a:r>
            <a:r>
              <a:rPr lang="en-US" dirty="0" err="1"/>
              <a:t>Jednoduchý</a:t>
            </a:r>
            <a:r>
              <a:rPr lang="en-US" dirty="0"/>
              <a:t>, </a:t>
            </a:r>
            <a:r>
              <a:rPr lang="en-US" dirty="0" err="1"/>
              <a:t>stále</a:t>
            </a:r>
            <a:r>
              <a:rPr lang="en-US" dirty="0"/>
              <a:t> </a:t>
            </a:r>
            <a:r>
              <a:rPr lang="en-US" dirty="0" err="1"/>
              <a:t>populární</a:t>
            </a:r>
            <a:r>
              <a:rPr lang="en-US" dirty="0"/>
              <a:t> pro web (WordPress, Laravel)</a:t>
            </a:r>
            <a:endParaRPr lang="cs-CZ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Zdroj: </a:t>
            </a:r>
            <a:r>
              <a:rPr lang="en-US" dirty="0">
                <a:hlinkClick r:id="rId2"/>
              </a:rPr>
              <a:t>https://www.tiobe.com/tiobe-index/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CB28E8D-17EC-C947-036E-92703241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Programovac</a:t>
            </a:r>
            <a:r>
              <a:rPr lang="cs-CZ"/>
              <a:t>í </a:t>
            </a:r>
            <a:r>
              <a:rPr lang="en-US" err="1"/>
              <a:t>jazyky</a:t>
            </a:r>
            <a:r>
              <a:rPr lang="cs-CZ"/>
              <a:t> – dle oblíbenosti 2025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844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6840-B172-DC2C-D50E-1B07CA8E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F7351A47-E577-FCA2-C265-5864EAB2F83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3" r="20393"/>
          <a:stretch>
            <a:fillRect/>
          </a:stretch>
        </p:blipFill>
        <p:spPr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B8D9EBF-0986-7FF2-E9AA-E3E875D9F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Framework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8C13B8-5B00-4BAC-F0AD-5AFAF9AAEB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4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6784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8045-39F2-2E50-7F38-38D6B29D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EE4ED5-D366-562A-8B16-74C24A35713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637C1-9376-3708-F4D7-BF5DE45F1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0EB980-270E-21C3-8DA8-77F2735BB5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262DC3-0B09-748B-C792-79F548D183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b="1" dirty="0"/>
              <a:t>Framework</a:t>
            </a:r>
            <a:r>
              <a:rPr lang="en-US" dirty="0"/>
              <a:t> je </a:t>
            </a:r>
            <a:r>
              <a:rPr lang="en-US" b="1" dirty="0" err="1"/>
              <a:t>strukturovaný</a:t>
            </a:r>
            <a:r>
              <a:rPr lang="en-US" b="1" dirty="0"/>
              <a:t> </a:t>
            </a:r>
            <a:r>
              <a:rPr lang="en-US" b="1" dirty="0" err="1"/>
              <a:t>nástroj</a:t>
            </a:r>
            <a:r>
              <a:rPr lang="en-US" b="1" dirty="0"/>
              <a:t> </a:t>
            </a:r>
            <a:r>
              <a:rPr lang="en-US" b="1" dirty="0" err="1"/>
              <a:t>nebo</a:t>
            </a:r>
            <a:r>
              <a:rPr lang="en-US" b="1" dirty="0"/>
              <a:t> </a:t>
            </a:r>
            <a:r>
              <a:rPr lang="en-US" b="1" dirty="0" err="1"/>
              <a:t>sada</a:t>
            </a:r>
            <a:r>
              <a:rPr lang="en-US" b="1" dirty="0"/>
              <a:t> </a:t>
            </a:r>
            <a:r>
              <a:rPr lang="en-US" b="1" dirty="0" err="1"/>
              <a:t>knihoven</a:t>
            </a:r>
            <a:r>
              <a:rPr lang="en-US" dirty="0"/>
              <a:t>, </a:t>
            </a:r>
            <a:r>
              <a:rPr lang="en-US" dirty="0" err="1"/>
              <a:t>která</a:t>
            </a:r>
            <a:r>
              <a:rPr lang="en-US" dirty="0"/>
              <a:t> </a:t>
            </a:r>
            <a:r>
              <a:rPr lang="en-US" dirty="0" err="1"/>
              <a:t>vývojářům</a:t>
            </a:r>
            <a:r>
              <a:rPr lang="en-US" dirty="0"/>
              <a:t> </a:t>
            </a:r>
            <a:r>
              <a:rPr lang="en-US" b="1" dirty="0" err="1"/>
              <a:t>usnadňuje</a:t>
            </a:r>
            <a:r>
              <a:rPr lang="en-US" b="1" dirty="0"/>
              <a:t> a </a:t>
            </a:r>
            <a:r>
              <a:rPr lang="en-US" b="1" dirty="0" err="1"/>
              <a:t>urychluje</a:t>
            </a:r>
            <a:r>
              <a:rPr lang="en-US" b="1" dirty="0"/>
              <a:t> </a:t>
            </a:r>
            <a:r>
              <a:rPr lang="en-US" b="1" dirty="0" err="1"/>
              <a:t>vývoj</a:t>
            </a:r>
            <a:r>
              <a:rPr lang="en-US" b="1" dirty="0"/>
              <a:t> </a:t>
            </a:r>
            <a:r>
              <a:rPr lang="en-US" b="1" dirty="0" err="1"/>
              <a:t>aplikací</a:t>
            </a:r>
            <a:r>
              <a:rPr lang="en-US" dirty="0"/>
              <a:t> </a:t>
            </a:r>
            <a:r>
              <a:rPr lang="en-US" dirty="0" err="1"/>
              <a:t>tím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poskytuje</a:t>
            </a:r>
            <a:r>
              <a:rPr lang="en-US" dirty="0"/>
              <a:t> </a:t>
            </a:r>
            <a:r>
              <a:rPr lang="en-US" dirty="0" err="1"/>
              <a:t>předem</a:t>
            </a:r>
            <a:r>
              <a:rPr lang="en-US" dirty="0"/>
              <a:t> </a:t>
            </a:r>
            <a:r>
              <a:rPr lang="en-US" dirty="0" err="1"/>
              <a:t>připravené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en-US" dirty="0"/>
              <a:t>, </a:t>
            </a:r>
            <a:r>
              <a:rPr lang="en-US" dirty="0" err="1"/>
              <a:t>pravidla</a:t>
            </a:r>
            <a:r>
              <a:rPr lang="en-US" dirty="0"/>
              <a:t> a </a:t>
            </a:r>
            <a:r>
              <a:rPr lang="en-US" dirty="0" err="1"/>
              <a:t>architekturu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front-end x back-end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b="1" dirty="0"/>
              <a:t> Příklady:</a:t>
            </a:r>
          </a:p>
          <a:p>
            <a:r>
              <a:rPr lang="cs-CZ" dirty="0"/>
              <a:t>Django, Flask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cs-CZ" i="1" dirty="0"/>
              <a:t>Python</a:t>
            </a:r>
            <a:r>
              <a:rPr lang="en-US" i="1" dirty="0"/>
              <a:t>)</a:t>
            </a:r>
          </a:p>
          <a:p>
            <a:r>
              <a:rPr lang="cs-CZ" dirty="0"/>
              <a:t>React, Angular, Vue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cs-CZ" i="1" dirty="0"/>
              <a:t>JavaScript</a:t>
            </a:r>
            <a:r>
              <a:rPr lang="en-US" i="1" dirty="0"/>
              <a:t>)</a:t>
            </a:r>
            <a:endParaRPr lang="cs-CZ" i="1" dirty="0"/>
          </a:p>
          <a:p>
            <a:r>
              <a:rPr lang="en-US" dirty="0"/>
              <a:t>ASP.NET Core </a:t>
            </a:r>
            <a:r>
              <a:rPr lang="en-US" i="1" dirty="0"/>
              <a:t>(</a:t>
            </a:r>
            <a:r>
              <a:rPr lang="cs-CZ" i="1" dirty="0"/>
              <a:t>C</a:t>
            </a:r>
            <a:r>
              <a:rPr lang="en-US" i="1" dirty="0"/>
              <a:t>#)</a:t>
            </a:r>
          </a:p>
          <a:p>
            <a:r>
              <a:rPr lang="en-US" dirty="0"/>
              <a:t>Spring Boot </a:t>
            </a:r>
            <a:r>
              <a:rPr lang="en-US" i="1" dirty="0"/>
              <a:t>(Java)</a:t>
            </a:r>
            <a:endParaRPr lang="de-DE" dirty="0"/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47EEAD8-3A94-C781-F7E3-B5355671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Frameworky</a:t>
            </a:r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717081-B993-6E4A-2501-DD36AA016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161077"/>
            <a:ext cx="4394436" cy="414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91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9B51-4019-C229-A85E-F827AC67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artoon character holding a globe&#10;&#10;AI-generated content may be incorrect.">
            <a:extLst>
              <a:ext uri="{FF2B5EF4-FFF2-40B4-BE49-F238E27FC236}">
                <a16:creationId xmlns:a16="http://schemas.microsoft.com/office/drawing/2014/main" id="{0DDE3AC8-7D22-8EE0-4ACD-1EB8DF3C95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" r="1880"/>
          <a:stretch>
            <a:fillRect/>
          </a:stretch>
        </p:blipFill>
        <p:spPr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726E45F-AA60-B0E9-67BA-3214E142F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ASP.NET Core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FBDD3B-2D4D-DE7A-9148-39FD28F91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5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144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783E0-599D-435F-FE48-5AEC6E49C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53F6381-8573-3B9F-42E1-D010BACAB77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86C7C8B-D950-08AE-FBE6-D57F771BB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233B7D-4B9E-B47F-5C35-A395E642544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02BC97B-D3E6-1087-0A9F-12777CABB3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245932"/>
            <a:ext cx="11521280" cy="5009042"/>
          </a:xfrm>
        </p:spPr>
        <p:txBody>
          <a:bodyPr/>
          <a:lstStyle/>
          <a:p>
            <a:r>
              <a:rPr lang="de-DE" dirty="0"/>
              <a:t>Multiplatformn</a:t>
            </a:r>
            <a:r>
              <a:rPr lang="cs-CZ" dirty="0"/>
              <a:t>í </a:t>
            </a:r>
            <a:r>
              <a:rPr lang="de-DE" dirty="0"/>
              <a:t>open-source </a:t>
            </a:r>
            <a:r>
              <a:rPr lang="en-US" dirty="0"/>
              <a:t>framework</a:t>
            </a:r>
            <a:r>
              <a:rPr lang="cs-CZ" dirty="0"/>
              <a:t> pro vývoj aplikací a API.</a:t>
            </a:r>
          </a:p>
          <a:p>
            <a:endParaRPr lang="cs-CZ" sz="1050" dirty="0"/>
          </a:p>
          <a:p>
            <a:pPr marL="0" indent="0">
              <a:buNone/>
            </a:pPr>
            <a:r>
              <a:rPr lang="cs-CZ" b="1" dirty="0"/>
              <a:t>Podporované platformy</a:t>
            </a:r>
          </a:p>
          <a:p>
            <a:pPr marL="0" indent="0">
              <a:buNone/>
            </a:pPr>
            <a:r>
              <a:rPr lang="en-US" sz="1600" b="1" dirty="0"/>
              <a:t>Windows</a:t>
            </a:r>
            <a:r>
              <a:rPr lang="cs-CZ" sz="1600" b="1" dirty="0"/>
              <a:t>: </a:t>
            </a:r>
          </a:p>
          <a:p>
            <a:r>
              <a:rPr lang="en-US" sz="1400" dirty="0" err="1"/>
              <a:t>Běží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.NET Core </a:t>
            </a:r>
            <a:r>
              <a:rPr lang="en-US" sz="1400" dirty="0" err="1"/>
              <a:t>nebo</a:t>
            </a:r>
            <a:r>
              <a:rPr lang="en-US" sz="1400" dirty="0"/>
              <a:t> .NET Framework (pro </a:t>
            </a:r>
            <a:r>
              <a:rPr lang="en-US" sz="1400" dirty="0" err="1"/>
              <a:t>starší</a:t>
            </a:r>
            <a:r>
              <a:rPr lang="en-US" sz="1400" dirty="0"/>
              <a:t> </a:t>
            </a:r>
            <a:r>
              <a:rPr lang="en-US" sz="1400" dirty="0" err="1"/>
              <a:t>kompatibilitu</a:t>
            </a:r>
            <a:r>
              <a:rPr lang="en-US" sz="1400" dirty="0"/>
              <a:t>).</a:t>
            </a:r>
            <a:endParaRPr lang="cs-CZ" sz="1400" dirty="0"/>
          </a:p>
          <a:p>
            <a:r>
              <a:rPr lang="en-US" sz="1400" dirty="0" err="1"/>
              <a:t>Obvykle</a:t>
            </a:r>
            <a:r>
              <a:rPr lang="en-US" sz="1400" dirty="0"/>
              <a:t> </a:t>
            </a:r>
            <a:r>
              <a:rPr lang="en-US" sz="1400" dirty="0" err="1"/>
              <a:t>hostováno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webovém</a:t>
            </a:r>
            <a:r>
              <a:rPr lang="en-US" sz="1400" dirty="0"/>
              <a:t> </a:t>
            </a:r>
            <a:r>
              <a:rPr lang="en-US" sz="1400" dirty="0" err="1"/>
              <a:t>serveru</a:t>
            </a:r>
            <a:r>
              <a:rPr lang="en-US" sz="1400" dirty="0"/>
              <a:t> IIS </a:t>
            </a:r>
            <a:r>
              <a:rPr lang="en-US" sz="1400" dirty="0" err="1"/>
              <a:t>nebo</a:t>
            </a:r>
            <a:r>
              <a:rPr lang="en-US" sz="1400" dirty="0"/>
              <a:t> Kestrel.</a:t>
            </a:r>
            <a:endParaRPr lang="cs-CZ" sz="1400" b="1" dirty="0"/>
          </a:p>
          <a:p>
            <a:endParaRPr lang="cs-CZ" sz="1400" dirty="0"/>
          </a:p>
          <a:p>
            <a:pPr marL="0" indent="0">
              <a:buNone/>
            </a:pPr>
            <a:r>
              <a:rPr lang="cs-CZ" sz="1600" b="1" dirty="0"/>
              <a:t>Linux: </a:t>
            </a:r>
          </a:p>
          <a:p>
            <a:r>
              <a:rPr lang="en-US" sz="1400" dirty="0" err="1"/>
              <a:t>Běží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.NET Core</a:t>
            </a:r>
            <a:r>
              <a:rPr lang="cs-CZ" sz="1400" dirty="0"/>
              <a:t> runtime</a:t>
            </a:r>
            <a:r>
              <a:rPr lang="en-US" sz="1400" dirty="0"/>
              <a:t>.</a:t>
            </a:r>
            <a:endParaRPr lang="cs-CZ" sz="1400" dirty="0"/>
          </a:p>
          <a:p>
            <a:r>
              <a:rPr lang="en-US" sz="1400" dirty="0" err="1"/>
              <a:t>Obvykle</a:t>
            </a:r>
            <a:r>
              <a:rPr lang="en-US" sz="1400" dirty="0"/>
              <a:t> </a:t>
            </a:r>
            <a:r>
              <a:rPr lang="en-US" sz="1400" dirty="0" err="1"/>
              <a:t>hostováno</a:t>
            </a:r>
            <a:r>
              <a:rPr lang="en-US" sz="1400" dirty="0"/>
              <a:t> </a:t>
            </a:r>
            <a:r>
              <a:rPr lang="en-US" sz="1400" dirty="0" err="1"/>
              <a:t>pomocí</a:t>
            </a:r>
            <a:r>
              <a:rPr lang="en-US" sz="1400" dirty="0"/>
              <a:t> Kestrel za </a:t>
            </a:r>
            <a:r>
              <a:rPr lang="en-US" sz="1400" dirty="0" err="1"/>
              <a:t>reverzní</a:t>
            </a:r>
            <a:r>
              <a:rPr lang="en-US" sz="1400" dirty="0"/>
              <a:t> proxy, </a:t>
            </a:r>
            <a:r>
              <a:rPr lang="en-US" sz="1400" dirty="0" err="1"/>
              <a:t>jako</a:t>
            </a:r>
            <a:r>
              <a:rPr lang="en-US" sz="1400" dirty="0"/>
              <a:t> je Nginx </a:t>
            </a:r>
            <a:r>
              <a:rPr lang="en-US" sz="1400" dirty="0" err="1"/>
              <a:t>nebo</a:t>
            </a:r>
            <a:r>
              <a:rPr lang="en-US" sz="1400" dirty="0"/>
              <a:t> Apache.</a:t>
            </a:r>
            <a:endParaRPr lang="cs-CZ" sz="1400" dirty="0"/>
          </a:p>
          <a:p>
            <a:pPr marL="0" indent="0">
              <a:buNone/>
            </a:pPr>
            <a:endParaRPr lang="cs-CZ" sz="1400" dirty="0"/>
          </a:p>
          <a:p>
            <a:pPr marL="0" indent="0">
              <a:buNone/>
            </a:pPr>
            <a:r>
              <a:rPr lang="cs-CZ" sz="1600" b="1" dirty="0"/>
              <a:t>macOS: </a:t>
            </a:r>
          </a:p>
          <a:p>
            <a:r>
              <a:rPr lang="en-US" sz="1400" dirty="0" err="1"/>
              <a:t>Běží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.NET Core </a:t>
            </a:r>
            <a:r>
              <a:rPr lang="en-US" sz="1400" dirty="0" err="1"/>
              <a:t>nebo</a:t>
            </a:r>
            <a:r>
              <a:rPr lang="en-US" sz="1400" dirty="0"/>
              <a:t> .NET Framework (pro </a:t>
            </a:r>
            <a:r>
              <a:rPr lang="en-US" sz="1400" dirty="0" err="1"/>
              <a:t>starší</a:t>
            </a:r>
            <a:r>
              <a:rPr lang="en-US" sz="1400" dirty="0"/>
              <a:t> </a:t>
            </a:r>
            <a:r>
              <a:rPr lang="en-US" sz="1400" dirty="0" err="1"/>
              <a:t>kompatibilitu</a:t>
            </a:r>
            <a:r>
              <a:rPr lang="en-US" sz="1400" dirty="0"/>
              <a:t>).</a:t>
            </a:r>
            <a:endParaRPr lang="cs-CZ" sz="1400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33E6F9A-A0F4-1971-3ABA-DD8FE503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1236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F7BD-9436-3CB0-E7E2-3FB522A8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26234CEA-E7C4-5F05-B53A-8AE8C36B5D3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" r="7236"/>
          <a:stretch>
            <a:fillRect/>
          </a:stretch>
        </p:blipFill>
        <p:spPr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0E49EAE-5D0F-F8E2-FAEC-928879EC9F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 je </a:t>
            </a:r>
            <a:r>
              <a:rPr lang="cs-CZ"/>
              <a:t>Blazor?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111812-3FC3-B0FD-10F0-6082DC1104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6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558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8633-4E0E-2FEB-88C8-BCEEA4CA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6BFFD03-6E64-799E-4345-72F2E75A23A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08F888-DF10-7A3E-9A7E-B5227A84E46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AB9B6A-C40E-D305-6DF0-3047E4A81F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0E04B3-8025-185E-38DB-3DD220D113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245932"/>
            <a:ext cx="11521280" cy="5009042"/>
          </a:xfrm>
        </p:spPr>
        <p:txBody>
          <a:bodyPr/>
          <a:lstStyle/>
          <a:p>
            <a:pPr marL="0" indent="0">
              <a:buNone/>
            </a:pPr>
            <a:r>
              <a:rPr lang="cs-CZ" b="1" dirty="0"/>
              <a:t>Přehled:</a:t>
            </a:r>
          </a:p>
          <a:p>
            <a:r>
              <a:rPr lang="de-DE" dirty="0"/>
              <a:t>Blazor je open-source </a:t>
            </a:r>
            <a:r>
              <a:rPr lang="cs-CZ" dirty="0"/>
              <a:t>moderní front-endový webový framework založený na HTML, CSS a </a:t>
            </a:r>
            <a:r>
              <a:rPr lang="en-US" dirty="0"/>
              <a:t>C#. </a:t>
            </a:r>
            <a:endParaRPr lang="cs-CZ" dirty="0"/>
          </a:p>
          <a:p>
            <a:r>
              <a:rPr lang="cs-CZ" dirty="0"/>
              <a:t>Je součástí </a:t>
            </a:r>
            <a:r>
              <a:rPr lang="en-US" dirty="0"/>
              <a:t>ASP.NET Cor</a:t>
            </a:r>
            <a:r>
              <a:rPr lang="cs-CZ" dirty="0"/>
              <a:t>e frameworku.</a:t>
            </a:r>
          </a:p>
          <a:p>
            <a:endParaRPr lang="cs-CZ" sz="1050" dirty="0"/>
          </a:p>
          <a:p>
            <a:pPr marL="0" indent="0">
              <a:buNone/>
            </a:pPr>
            <a:r>
              <a:rPr lang="cs-CZ" b="1" dirty="0"/>
              <a:t>Důvody vzniku</a:t>
            </a:r>
          </a:p>
          <a:p>
            <a:r>
              <a:rPr lang="en-US" dirty="0"/>
              <a:t>Blazor </a:t>
            </a:r>
            <a:r>
              <a:rPr lang="en-US" dirty="0" err="1"/>
              <a:t>byl</a:t>
            </a:r>
            <a:r>
              <a:rPr lang="en-US" dirty="0"/>
              <a:t> </a:t>
            </a:r>
            <a:r>
              <a:rPr lang="en-US" dirty="0" err="1"/>
              <a:t>vytvořen</a:t>
            </a:r>
            <a:r>
              <a:rPr lang="en-US" dirty="0"/>
              <a:t> za </a:t>
            </a:r>
            <a:r>
              <a:rPr lang="en-US" dirty="0" err="1"/>
              <a:t>účelem</a:t>
            </a:r>
            <a:r>
              <a:rPr lang="en-US" dirty="0"/>
              <a:t> </a:t>
            </a:r>
            <a:r>
              <a:rPr lang="en-US" dirty="0" err="1"/>
              <a:t>zjednodušení</a:t>
            </a:r>
            <a:r>
              <a:rPr lang="en-US" dirty="0"/>
              <a:t> </a:t>
            </a:r>
            <a:r>
              <a:rPr lang="en-US" dirty="0" err="1"/>
              <a:t>vývoje</a:t>
            </a:r>
            <a:r>
              <a:rPr lang="en-US" dirty="0"/>
              <a:t> </a:t>
            </a:r>
            <a:r>
              <a:rPr lang="en-US" dirty="0" err="1"/>
              <a:t>webových</a:t>
            </a:r>
            <a:r>
              <a:rPr lang="en-US" dirty="0"/>
              <a:t> </a:t>
            </a:r>
            <a:r>
              <a:rPr lang="en-US" dirty="0" err="1"/>
              <a:t>aplikací</a:t>
            </a:r>
            <a:r>
              <a:rPr lang="en-US" dirty="0"/>
              <a:t> pro .NET </a:t>
            </a:r>
            <a:r>
              <a:rPr lang="en-US" dirty="0" err="1"/>
              <a:t>vývojáře</a:t>
            </a:r>
            <a:r>
              <a:rPr lang="en-US" dirty="0"/>
              <a:t> </a:t>
            </a:r>
            <a:r>
              <a:rPr lang="en-US" dirty="0" err="1"/>
              <a:t>sjednocením</a:t>
            </a:r>
            <a:r>
              <a:rPr lang="en-US" dirty="0"/>
              <a:t> </a:t>
            </a:r>
            <a:r>
              <a:rPr lang="en-US" dirty="0" err="1"/>
              <a:t>jazyků</a:t>
            </a:r>
            <a:r>
              <a:rPr lang="en-US" dirty="0"/>
              <a:t> pro </a:t>
            </a:r>
            <a:r>
              <a:rPr lang="en-US" dirty="0" err="1"/>
              <a:t>klientskou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serverovou</a:t>
            </a:r>
            <a:r>
              <a:rPr lang="en-US" dirty="0"/>
              <a:t> </a:t>
            </a:r>
            <a:r>
              <a:rPr lang="en-US" dirty="0" err="1"/>
              <a:t>část</a:t>
            </a:r>
            <a:r>
              <a:rPr lang="en-US" dirty="0"/>
              <a:t>.</a:t>
            </a:r>
            <a:endParaRPr lang="cs-CZ" dirty="0"/>
          </a:p>
          <a:p>
            <a:endParaRPr lang="cs-CZ" sz="1400" dirty="0"/>
          </a:p>
          <a:p>
            <a:pPr marL="0" indent="0">
              <a:buNone/>
            </a:pPr>
            <a:r>
              <a:rPr lang="cs-CZ" b="1" dirty="0"/>
              <a:t>Varianty</a:t>
            </a:r>
          </a:p>
          <a:p>
            <a:r>
              <a:rPr lang="en-US" dirty="0"/>
              <a:t>Blazor </a:t>
            </a:r>
            <a:r>
              <a:rPr lang="en-US" dirty="0" err="1"/>
              <a:t>má</a:t>
            </a:r>
            <a:r>
              <a:rPr lang="en-US" dirty="0"/>
              <a:t> </a:t>
            </a:r>
            <a:r>
              <a:rPr lang="en-US" dirty="0" err="1"/>
              <a:t>různé</a:t>
            </a:r>
            <a:r>
              <a:rPr lang="en-US" dirty="0"/>
              <a:t> </a:t>
            </a:r>
            <a:r>
              <a:rPr lang="en-US" dirty="0" err="1"/>
              <a:t>varianty</a:t>
            </a:r>
            <a:r>
              <a:rPr lang="en-US" dirty="0"/>
              <a:t>, </a:t>
            </a:r>
            <a:r>
              <a:rPr lang="en-US" dirty="0" err="1"/>
              <a:t>které</a:t>
            </a:r>
            <a:r>
              <a:rPr lang="en-US" dirty="0"/>
              <a:t> </a:t>
            </a:r>
            <a:r>
              <a:rPr lang="en-US" dirty="0" err="1"/>
              <a:t>vyhovují</a:t>
            </a:r>
            <a:r>
              <a:rPr lang="en-US" dirty="0"/>
              <a:t> </a:t>
            </a:r>
            <a:r>
              <a:rPr lang="en-US" dirty="0" err="1"/>
              <a:t>různým</a:t>
            </a:r>
            <a:r>
              <a:rPr lang="en-US" dirty="0"/>
              <a:t> </a:t>
            </a:r>
            <a:r>
              <a:rPr lang="en-US" dirty="0" err="1"/>
              <a:t>potřebám</a:t>
            </a:r>
            <a:r>
              <a:rPr lang="en-US" dirty="0"/>
              <a:t> (</a:t>
            </a:r>
            <a:r>
              <a:rPr lang="en-US" dirty="0" err="1"/>
              <a:t>klient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server).</a:t>
            </a:r>
            <a:endParaRPr lang="cs-CZ" dirty="0"/>
          </a:p>
          <a:p>
            <a:pPr marL="0" indent="0">
              <a:buNone/>
            </a:pPr>
            <a:endParaRPr lang="cs-CZ" sz="1400" dirty="0"/>
          </a:p>
          <a:p>
            <a:pPr marL="0" indent="0">
              <a:buNone/>
            </a:pPr>
            <a:r>
              <a:rPr lang="en-US" b="1" dirty="0" err="1"/>
              <a:t>Přínosy</a:t>
            </a:r>
            <a:r>
              <a:rPr lang="en-US" b="1" dirty="0"/>
              <a:t> pro </a:t>
            </a:r>
            <a:r>
              <a:rPr lang="en-US" b="1" dirty="0" err="1"/>
              <a:t>vývojáře</a:t>
            </a:r>
            <a:r>
              <a:rPr lang="en-US" b="1" dirty="0"/>
              <a:t> </a:t>
            </a:r>
            <a:endParaRPr lang="cs-CZ" b="1" dirty="0"/>
          </a:p>
          <a:p>
            <a:r>
              <a:rPr lang="en-US" dirty="0"/>
              <a:t>Blazor </a:t>
            </a:r>
            <a:r>
              <a:rPr lang="en-US" dirty="0" err="1"/>
              <a:t>usnadňuje</a:t>
            </a:r>
            <a:r>
              <a:rPr lang="en-US" dirty="0"/>
              <a:t> </a:t>
            </a:r>
            <a:r>
              <a:rPr lang="en-US" dirty="0" err="1"/>
              <a:t>vývoj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údržbu</a:t>
            </a:r>
            <a:r>
              <a:rPr lang="en-US" dirty="0"/>
              <a:t> </a:t>
            </a:r>
            <a:r>
              <a:rPr lang="en-US" dirty="0" err="1"/>
              <a:t>tím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umožňuje</a:t>
            </a:r>
            <a:r>
              <a:rPr lang="en-US" dirty="0"/>
              <a:t> </a:t>
            </a:r>
            <a:r>
              <a:rPr lang="en-US" dirty="0" err="1"/>
              <a:t>používat</a:t>
            </a:r>
            <a:r>
              <a:rPr lang="en-US" dirty="0"/>
              <a:t> </a:t>
            </a:r>
            <a:r>
              <a:rPr lang="en-US" dirty="0" err="1"/>
              <a:t>jeden</a:t>
            </a:r>
            <a:r>
              <a:rPr lang="en-US" dirty="0"/>
              <a:t> </a:t>
            </a:r>
            <a:r>
              <a:rPr lang="en-US" dirty="0" err="1"/>
              <a:t>jazyk</a:t>
            </a:r>
            <a:r>
              <a:rPr lang="en-US" dirty="0"/>
              <a:t> </a:t>
            </a:r>
            <a:r>
              <a:rPr lang="en-US" dirty="0" err="1"/>
              <a:t>napříč</a:t>
            </a:r>
            <a:r>
              <a:rPr lang="en-US" dirty="0"/>
              <a:t> </a:t>
            </a:r>
            <a:r>
              <a:rPr lang="en-US" dirty="0" err="1"/>
              <a:t>celou</a:t>
            </a:r>
            <a:r>
              <a:rPr lang="en-US" dirty="0"/>
              <a:t> </a:t>
            </a:r>
            <a:r>
              <a:rPr lang="en-US" dirty="0" err="1"/>
              <a:t>aplikací</a:t>
            </a:r>
            <a:r>
              <a:rPr lang="en-US" dirty="0"/>
              <a:t>. </a:t>
            </a:r>
            <a:endParaRPr lang="cs-CZ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8BF835-86C7-B4C9-6F27-E09E5AD4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 je </a:t>
            </a:r>
            <a:r>
              <a:rPr lang="cs-CZ"/>
              <a:t>Blazor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875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09A1-0AF6-AE9E-BAC8-6A20FC3F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urple logo with a white circle and a purple bird&#10;&#10;AI-generated content may be incorrect.">
            <a:extLst>
              <a:ext uri="{FF2B5EF4-FFF2-40B4-BE49-F238E27FC236}">
                <a16:creationId xmlns:a16="http://schemas.microsoft.com/office/drawing/2014/main" id="{C69EEBC5-E047-17B4-12DF-562DA6F23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60" y="1031913"/>
            <a:ext cx="9746944" cy="5421423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FED85B-8127-1101-A5C7-A46D57ADF39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9EFD7A-5AA7-863E-3B83-B5F6D253898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62D4CD-7F95-48CE-2411-ECA325E3F17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02CE45-C495-6A82-61FE-9488C7142D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52DF987-90A5-3079-372B-5046B127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Blazor – původ názvu a loga</a:t>
            </a:r>
            <a:endParaRPr lang="de-DE"/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31FBAAD1-1607-CE7B-FF8F-026DA588254F}"/>
              </a:ext>
            </a:extLst>
          </p:cNvPr>
          <p:cNvSpPr txBox="1">
            <a:spLocks/>
          </p:cNvSpPr>
          <p:nvPr/>
        </p:nvSpPr>
        <p:spPr bwMode="gray">
          <a:xfrm>
            <a:off x="1162980" y="5601673"/>
            <a:ext cx="9866040" cy="30569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Blazor je kombinace: </a:t>
            </a:r>
            <a:r>
              <a:rPr lang="en-US"/>
              <a:t>“B” (browser) + “Razor” (.NET HTML engine)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628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45425-941E-D546-D2F4-43C3E410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BCA663-76D9-45C8-8CD5-BE07E3229CA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C703D1-2F75-A7A9-D66F-500FC105C6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6342BF-AFA9-6B33-746C-D68B32CFCB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8EB438-1CF0-748B-01E2-A9C5C34C7E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 dirty="0"/>
              <a:t>Hostingové modely</a:t>
            </a:r>
          </a:p>
          <a:p>
            <a:r>
              <a:rPr lang="en-US" dirty="0" err="1"/>
              <a:t>Komponenty</a:t>
            </a:r>
            <a:endParaRPr lang="en-US" dirty="0"/>
          </a:p>
          <a:p>
            <a:r>
              <a:rPr lang="cs-CZ" dirty="0"/>
              <a:t>Stavový</a:t>
            </a:r>
            <a:r>
              <a:rPr lang="en-US" dirty="0"/>
              <a:t> management</a:t>
            </a:r>
            <a:endParaRPr lang="cs-CZ" dirty="0"/>
          </a:p>
          <a:p>
            <a:r>
              <a:rPr lang="cs-CZ" dirty="0"/>
              <a:t>Životní cyklus komponent</a:t>
            </a:r>
          </a:p>
          <a:p>
            <a:r>
              <a:rPr lang="cs-CZ" dirty="0"/>
              <a:t>Komunikace mezi komponentami</a:t>
            </a:r>
          </a:p>
          <a:p>
            <a:endParaRPr lang="cs-CZ" dirty="0"/>
          </a:p>
          <a:p>
            <a:r>
              <a:rPr lang="en-US" dirty="0"/>
              <a:t>Data binding (one-way, two-way)</a:t>
            </a:r>
          </a:p>
          <a:p>
            <a:r>
              <a:rPr lang="en-US" dirty="0"/>
              <a:t>Event handling</a:t>
            </a:r>
          </a:p>
          <a:p>
            <a:r>
              <a:rPr lang="en-US" dirty="0"/>
              <a:t>Dependency injection</a:t>
            </a:r>
            <a:endParaRPr lang="cs-CZ" dirty="0"/>
          </a:p>
          <a:p>
            <a:r>
              <a:rPr lang="en-US" dirty="0"/>
              <a:t>Component disposal</a:t>
            </a:r>
          </a:p>
          <a:p>
            <a:r>
              <a:rPr lang="de-DE" dirty="0"/>
              <a:t>Component styling (CSS, SCSS)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635452D-358D-1BDD-256F-2FF11FCD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Blazor – jak vlastně funguje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25142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16E1-FA73-CD3A-BC91-6B45C4A5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D25EF99-B667-61BD-F57C-CDF129D1592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C3DD1C-94D3-9F4F-3740-DE6463EA290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5767C5-16D7-CF16-5432-0AC412B91EF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3E7939-28AB-762B-951B-B3672BE80C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169035"/>
            <a:ext cx="11521280" cy="489584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cs-CZ" b="1" dirty="0"/>
              <a:t>Blazor Server:</a:t>
            </a:r>
          </a:p>
          <a:p>
            <a:pPr>
              <a:lnSpc>
                <a:spcPct val="100000"/>
              </a:lnSpc>
            </a:pPr>
            <a:r>
              <a:rPr lang="cs-CZ" dirty="0"/>
              <a:t>Běží na serveru a používá SignalR pro komunikaci mezi klientem a serverem v reálném čase.</a:t>
            </a:r>
          </a:p>
          <a:p>
            <a:pPr marL="0" indent="0">
              <a:lnSpc>
                <a:spcPct val="100000"/>
              </a:lnSpc>
              <a:buNone/>
            </a:pPr>
            <a:endParaRPr lang="cs-CZ" dirty="0"/>
          </a:p>
          <a:p>
            <a:pPr marL="0" indent="0">
              <a:lnSpc>
                <a:spcPct val="100000"/>
              </a:lnSpc>
              <a:buNone/>
            </a:pPr>
            <a:r>
              <a:rPr lang="cs-CZ" b="1" dirty="0"/>
              <a:t>Blazor WebAssembly</a:t>
            </a:r>
          </a:p>
          <a:p>
            <a:pPr>
              <a:lnSpc>
                <a:spcPct val="100000"/>
              </a:lnSpc>
            </a:pPr>
            <a:r>
              <a:rPr lang="cs-CZ" dirty="0"/>
              <a:t>Běží v prohlížeči uživatele, umožnuje aplikaci běžet i offline bez závislosti na připojení k serveru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endParaRPr lang="cs-CZ" dirty="0"/>
          </a:p>
          <a:p>
            <a:pPr marL="0" indent="0">
              <a:lnSpc>
                <a:spcPct val="100000"/>
              </a:lnSpc>
              <a:buNone/>
            </a:pPr>
            <a:r>
              <a:rPr lang="cs-CZ" b="1" dirty="0"/>
              <a:t>Blazor </a:t>
            </a:r>
            <a:r>
              <a:rPr lang="en-US" b="1" dirty="0"/>
              <a:t>Hybrid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err="1"/>
              <a:t>Nativn</a:t>
            </a:r>
            <a:r>
              <a:rPr lang="cs-CZ" dirty="0"/>
              <a:t>í vývoj pro d</a:t>
            </a:r>
            <a:r>
              <a:rPr lang="en-US" dirty="0" err="1"/>
              <a:t>esktop</a:t>
            </a:r>
            <a:r>
              <a:rPr lang="en-US" dirty="0"/>
              <a:t> a </a:t>
            </a:r>
            <a:r>
              <a:rPr lang="cs-CZ" dirty="0"/>
              <a:t>mobilní zařízení - Stejné komponenty mohou být použité s libovolným hosting modelem</a:t>
            </a:r>
          </a:p>
          <a:p>
            <a:pPr>
              <a:lnSpc>
                <a:spcPct val="100000"/>
              </a:lnSpc>
            </a:pPr>
            <a:endParaRPr lang="cs-CZ" dirty="0"/>
          </a:p>
          <a:p>
            <a:pPr marL="0" indent="0">
              <a:lnSpc>
                <a:spcPct val="100000"/>
              </a:lnSpc>
              <a:buNone/>
            </a:pPr>
            <a:r>
              <a:rPr lang="cs-CZ" b="1" dirty="0"/>
              <a:t>Performance a limitace</a:t>
            </a:r>
          </a:p>
          <a:p>
            <a:pPr>
              <a:lnSpc>
                <a:spcPct val="100000"/>
              </a:lnSpc>
            </a:pPr>
            <a:r>
              <a:rPr lang="en-US" dirty="0"/>
              <a:t>Blazor </a:t>
            </a:r>
            <a:r>
              <a:rPr lang="cs-CZ" dirty="0"/>
              <a:t>Server nabízí rychlejší čas načtení, ale závisí na stabilním přípojení. Max počet klientů...</a:t>
            </a:r>
          </a:p>
          <a:p>
            <a:pPr>
              <a:lnSpc>
                <a:spcPct val="100000"/>
              </a:lnSpc>
            </a:pPr>
            <a:r>
              <a:rPr lang="cs-CZ" dirty="0"/>
              <a:t>Blazor WebAssembly má delší čas načtení a offline možnosti</a:t>
            </a:r>
            <a:endParaRPr lang="cs-CZ" b="1" dirty="0"/>
          </a:p>
          <a:p>
            <a:pPr>
              <a:lnSpc>
                <a:spcPct val="100000"/>
              </a:lnSpc>
            </a:pPr>
            <a:r>
              <a:rPr lang="cs-CZ" dirty="0"/>
              <a:t>Oba modely sdílejí stejný model komponent a podporu .NET knihoven.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8012DB7-6F97-AC07-7F51-B4B1B2B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-</a:t>
            </a:r>
            <a:r>
              <a:rPr lang="en-US"/>
              <a:t> </a:t>
            </a:r>
            <a:r>
              <a:rPr lang="cs-CZ"/>
              <a:t>h</a:t>
            </a:r>
            <a:r>
              <a:rPr lang="en-US" err="1"/>
              <a:t>osting</a:t>
            </a:r>
            <a:r>
              <a:rPr lang="cs-CZ"/>
              <a:t>ové</a:t>
            </a:r>
            <a:r>
              <a:rPr lang="en-US"/>
              <a:t> model</a:t>
            </a:r>
            <a:r>
              <a:rPr lang="cs-CZ"/>
              <a:t>y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831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6C41-64A3-CA0C-BFF0-CC16E667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A58AD8-2579-45DE-9E7B-6F3CC2B0B38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F7C2FC-67C5-EF17-4BDC-12324BA8B1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C6BFE4-6B36-043D-0598-8362D66A06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5C31D9-D342-3CA5-20CA-52ED29AFE7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169035"/>
            <a:ext cx="11521280" cy="489584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cs-CZ" b="1" dirty="0"/>
              <a:t>Vývoj v Blazoru je silně založený na komponentách, které by měli být:</a:t>
            </a:r>
          </a:p>
          <a:p>
            <a:pPr marL="0" indent="0">
              <a:lnSpc>
                <a:spcPct val="100000"/>
              </a:lnSpc>
              <a:buNone/>
            </a:pPr>
            <a:endParaRPr lang="cs-CZ" b="1" dirty="0"/>
          </a:p>
          <a:p>
            <a:r>
              <a:rPr lang="en-US" b="1" dirty="0" err="1"/>
              <a:t>Odlehčené</a:t>
            </a:r>
            <a:r>
              <a:rPr lang="en-US" b="1" dirty="0"/>
              <a:t> (lightweight)</a:t>
            </a:r>
            <a:r>
              <a:rPr lang="en-US" dirty="0"/>
              <a:t>:</a:t>
            </a:r>
            <a:r>
              <a:rPr lang="cs-CZ" dirty="0"/>
              <a:t> </a:t>
            </a:r>
            <a:r>
              <a:rPr lang="en-US" dirty="0" err="1"/>
              <a:t>Komponenty</a:t>
            </a:r>
            <a:r>
              <a:rPr lang="en-US" dirty="0"/>
              <a:t> by </a:t>
            </a:r>
            <a:r>
              <a:rPr lang="en-US" dirty="0" err="1"/>
              <a:t>neměly</a:t>
            </a:r>
            <a:r>
              <a:rPr lang="en-US" dirty="0"/>
              <a:t> </a:t>
            </a:r>
            <a:r>
              <a:rPr lang="en-US" dirty="0" err="1"/>
              <a:t>obsahovat</a:t>
            </a:r>
            <a:r>
              <a:rPr lang="en-US" dirty="0"/>
              <a:t> </a:t>
            </a:r>
            <a:r>
              <a:rPr lang="en-US" dirty="0" err="1"/>
              <a:t>zbytečnou</a:t>
            </a:r>
            <a:r>
              <a:rPr lang="en-US" dirty="0"/>
              <a:t> </a:t>
            </a:r>
            <a:r>
              <a:rPr lang="en-US" dirty="0" err="1"/>
              <a:t>logiku</a:t>
            </a:r>
            <a:r>
              <a:rPr lang="en-US" dirty="0"/>
              <a:t> ani </a:t>
            </a:r>
            <a:r>
              <a:rPr lang="en-US" dirty="0" err="1"/>
              <a:t>závislosti</a:t>
            </a:r>
            <a:r>
              <a:rPr lang="en-US" dirty="0"/>
              <a:t>, aby </a:t>
            </a:r>
            <a:r>
              <a:rPr lang="en-US" dirty="0" err="1"/>
              <a:t>byly</a:t>
            </a:r>
            <a:r>
              <a:rPr lang="en-US" dirty="0"/>
              <a:t> </a:t>
            </a:r>
            <a:r>
              <a:rPr lang="en-US" dirty="0" err="1"/>
              <a:t>rychlé</a:t>
            </a:r>
            <a:r>
              <a:rPr lang="en-US" dirty="0"/>
              <a:t> a</a:t>
            </a:r>
            <a:r>
              <a:rPr lang="cs-CZ" dirty="0"/>
              <a:t> </a:t>
            </a:r>
            <a:r>
              <a:rPr lang="en-US" dirty="0" err="1"/>
              <a:t>snadno</a:t>
            </a:r>
            <a:r>
              <a:rPr lang="en-US" dirty="0"/>
              <a:t> </a:t>
            </a:r>
            <a:r>
              <a:rPr lang="en-US" dirty="0" err="1"/>
              <a:t>udržovatelné</a:t>
            </a:r>
            <a:r>
              <a:rPr lang="en-US" dirty="0"/>
              <a:t>.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r>
              <a:rPr lang="en-US" b="1" dirty="0" err="1"/>
              <a:t>Zapouzdřené</a:t>
            </a:r>
            <a:r>
              <a:rPr lang="en-US" b="1" dirty="0"/>
              <a:t> (encapsulated)</a:t>
            </a:r>
            <a:r>
              <a:rPr lang="en-US" dirty="0"/>
              <a:t>:</a:t>
            </a:r>
            <a:r>
              <a:rPr lang="cs-CZ" dirty="0"/>
              <a:t> </a:t>
            </a:r>
            <a:r>
              <a:rPr lang="en-US" dirty="0" err="1"/>
              <a:t>Každá</a:t>
            </a:r>
            <a:r>
              <a:rPr lang="en-US" dirty="0"/>
              <a:t> </a:t>
            </a:r>
            <a:r>
              <a:rPr lang="en-US" dirty="0" err="1"/>
              <a:t>komponenta</a:t>
            </a:r>
            <a:r>
              <a:rPr lang="en-US" dirty="0"/>
              <a:t> by </a:t>
            </a:r>
            <a:r>
              <a:rPr lang="en-US" dirty="0" err="1"/>
              <a:t>měla</a:t>
            </a:r>
            <a:r>
              <a:rPr lang="en-US" dirty="0"/>
              <a:t> </a:t>
            </a:r>
            <a:r>
              <a:rPr lang="en-US" dirty="0" err="1"/>
              <a:t>mít</a:t>
            </a:r>
            <a:r>
              <a:rPr lang="en-US" dirty="0"/>
              <a:t> </a:t>
            </a:r>
            <a:r>
              <a:rPr lang="en-US" dirty="0" err="1"/>
              <a:t>jasně</a:t>
            </a:r>
            <a:r>
              <a:rPr lang="en-US" dirty="0"/>
              <a:t> </a:t>
            </a:r>
            <a:r>
              <a:rPr lang="en-US" dirty="0" err="1"/>
              <a:t>definované</a:t>
            </a:r>
            <a:r>
              <a:rPr lang="en-US" dirty="0"/>
              <a:t> </a:t>
            </a:r>
            <a:r>
              <a:rPr lang="en-US" dirty="0" err="1"/>
              <a:t>rozhraní</a:t>
            </a:r>
            <a:r>
              <a:rPr lang="en-US" dirty="0"/>
              <a:t> (</a:t>
            </a:r>
            <a:r>
              <a:rPr lang="en-US" dirty="0" err="1"/>
              <a:t>parametry</a:t>
            </a:r>
            <a:r>
              <a:rPr lang="en-US" dirty="0"/>
              <a:t>, </a:t>
            </a:r>
            <a:r>
              <a:rPr lang="en-US" dirty="0" err="1"/>
              <a:t>eventy</a:t>
            </a:r>
            <a:r>
              <a:rPr lang="en-US" dirty="0"/>
              <a:t>) a </a:t>
            </a:r>
            <a:r>
              <a:rPr lang="en-US" dirty="0" err="1"/>
              <a:t>neměla</a:t>
            </a:r>
            <a:r>
              <a:rPr lang="en-US" dirty="0"/>
              <a:t> by </a:t>
            </a:r>
            <a:r>
              <a:rPr lang="en-US" dirty="0" err="1"/>
              <a:t>přímo</a:t>
            </a:r>
            <a:r>
              <a:rPr lang="en-US" dirty="0"/>
              <a:t> </a:t>
            </a:r>
            <a:r>
              <a:rPr lang="en-US" dirty="0" err="1"/>
              <a:t>zasahovat</a:t>
            </a:r>
            <a:r>
              <a:rPr lang="en-US" dirty="0"/>
              <a:t> do </a:t>
            </a:r>
            <a:r>
              <a:rPr lang="en-US" dirty="0" err="1"/>
              <a:t>vnitřních</a:t>
            </a:r>
            <a:r>
              <a:rPr lang="en-US" dirty="0"/>
              <a:t> </a:t>
            </a:r>
            <a:r>
              <a:rPr lang="en-US" dirty="0" err="1"/>
              <a:t>částí</a:t>
            </a:r>
            <a:r>
              <a:rPr lang="en-US" dirty="0"/>
              <a:t> </a:t>
            </a:r>
            <a:r>
              <a:rPr lang="en-US" dirty="0" err="1"/>
              <a:t>jiné</a:t>
            </a:r>
            <a:r>
              <a:rPr lang="en-US" dirty="0"/>
              <a:t> </a:t>
            </a:r>
            <a:r>
              <a:rPr lang="en-US" dirty="0" err="1"/>
              <a:t>komponenty</a:t>
            </a:r>
            <a:r>
              <a:rPr lang="en-US" dirty="0"/>
              <a:t>. </a:t>
            </a:r>
            <a:endParaRPr lang="cs-CZ" dirty="0"/>
          </a:p>
          <a:p>
            <a:endParaRPr lang="cs-CZ" dirty="0"/>
          </a:p>
          <a:p>
            <a:r>
              <a:rPr lang="en-US" b="1" dirty="0" err="1"/>
              <a:t>Rozšiřitelné</a:t>
            </a:r>
            <a:r>
              <a:rPr lang="en-US" b="1" dirty="0"/>
              <a:t> (extensible)</a:t>
            </a:r>
            <a:r>
              <a:rPr lang="en-US" dirty="0"/>
              <a:t>: </a:t>
            </a:r>
            <a:r>
              <a:rPr lang="cs-CZ" dirty="0"/>
              <a:t> </a:t>
            </a:r>
            <a:r>
              <a:rPr lang="en-US" dirty="0" err="1"/>
              <a:t>Návrh</a:t>
            </a:r>
            <a:r>
              <a:rPr lang="en-US" dirty="0"/>
              <a:t> by </a:t>
            </a:r>
            <a:r>
              <a:rPr lang="en-US" dirty="0" err="1"/>
              <a:t>měl</a:t>
            </a:r>
            <a:r>
              <a:rPr lang="en-US" dirty="0"/>
              <a:t> </a:t>
            </a:r>
            <a:r>
              <a:rPr lang="en-US" dirty="0" err="1"/>
              <a:t>umožnit</a:t>
            </a:r>
            <a:r>
              <a:rPr lang="en-US" dirty="0"/>
              <a:t> </a:t>
            </a:r>
            <a:r>
              <a:rPr lang="en-US" dirty="0" err="1"/>
              <a:t>přidání</a:t>
            </a:r>
            <a:r>
              <a:rPr lang="en-US" dirty="0"/>
              <a:t> </a:t>
            </a:r>
            <a:r>
              <a:rPr lang="en-US" dirty="0" err="1"/>
              <a:t>nových</a:t>
            </a:r>
            <a:r>
              <a:rPr lang="en-US" dirty="0"/>
              <a:t> </a:t>
            </a:r>
            <a:r>
              <a:rPr lang="en-US" dirty="0" err="1"/>
              <a:t>funkcí</a:t>
            </a:r>
            <a:r>
              <a:rPr lang="en-US" dirty="0"/>
              <a:t> bez </a:t>
            </a:r>
            <a:r>
              <a:rPr lang="en-US" dirty="0" err="1"/>
              <a:t>zásadních</a:t>
            </a:r>
            <a:r>
              <a:rPr lang="en-US" dirty="0"/>
              <a:t> </a:t>
            </a:r>
            <a:r>
              <a:rPr lang="en-US" dirty="0" err="1"/>
              <a:t>změn</a:t>
            </a:r>
            <a:r>
              <a:rPr lang="en-US" dirty="0"/>
              <a:t> </a:t>
            </a:r>
            <a:r>
              <a:rPr lang="en-US" dirty="0" err="1"/>
              <a:t>stávajícího</a:t>
            </a:r>
            <a:r>
              <a:rPr lang="en-US" dirty="0"/>
              <a:t> </a:t>
            </a:r>
            <a:r>
              <a:rPr lang="en-US" dirty="0" err="1"/>
              <a:t>kódu</a:t>
            </a:r>
            <a:r>
              <a:rPr lang="en-US" dirty="0"/>
              <a:t> (</a:t>
            </a:r>
            <a:r>
              <a:rPr lang="en-US" dirty="0" err="1"/>
              <a:t>např</a:t>
            </a:r>
            <a:r>
              <a:rPr lang="en-US" dirty="0"/>
              <a:t>. </a:t>
            </a:r>
            <a:r>
              <a:rPr lang="en-US" dirty="0" err="1"/>
              <a:t>přes</a:t>
            </a:r>
            <a:r>
              <a:rPr lang="en-US" dirty="0"/>
              <a:t> </a:t>
            </a:r>
            <a:r>
              <a:rPr lang="en-US" dirty="0" err="1"/>
              <a:t>dědičnost</a:t>
            </a:r>
            <a:r>
              <a:rPr lang="en-US" dirty="0"/>
              <a:t>, partial classes,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parametrizaci</a:t>
            </a:r>
            <a:r>
              <a:rPr lang="en-US" dirty="0"/>
              <a:t>).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r>
              <a:rPr lang="en-US" b="1" dirty="0" err="1"/>
              <a:t>Univerzální</a:t>
            </a:r>
            <a:r>
              <a:rPr lang="en-US" b="1" dirty="0"/>
              <a:t> / Reusable</a:t>
            </a:r>
            <a:r>
              <a:rPr lang="en-US" dirty="0"/>
              <a:t>: </a:t>
            </a:r>
            <a:r>
              <a:rPr lang="en-US" dirty="0" err="1"/>
              <a:t>Komponenty</a:t>
            </a:r>
            <a:r>
              <a:rPr lang="en-US" dirty="0"/>
              <a:t> by </a:t>
            </a:r>
            <a:r>
              <a:rPr lang="en-US" dirty="0" err="1"/>
              <a:t>měly</a:t>
            </a:r>
            <a:r>
              <a:rPr lang="en-US" dirty="0"/>
              <a:t> </a:t>
            </a:r>
            <a:r>
              <a:rPr lang="en-US" dirty="0" err="1"/>
              <a:t>být</a:t>
            </a:r>
            <a:r>
              <a:rPr lang="en-US" dirty="0"/>
              <a:t> </a:t>
            </a:r>
            <a:r>
              <a:rPr lang="en-US" dirty="0" err="1"/>
              <a:t>znovupoužitelné</a:t>
            </a:r>
            <a:r>
              <a:rPr lang="en-US" dirty="0"/>
              <a:t> v </a:t>
            </a:r>
            <a:r>
              <a:rPr lang="en-US" dirty="0" err="1"/>
              <a:t>různých</a:t>
            </a:r>
            <a:r>
              <a:rPr lang="en-US" dirty="0"/>
              <a:t> </a:t>
            </a:r>
            <a:r>
              <a:rPr lang="en-US" dirty="0" err="1"/>
              <a:t>částech</a:t>
            </a:r>
            <a:r>
              <a:rPr lang="en-US" dirty="0"/>
              <a:t> </a:t>
            </a:r>
            <a:r>
              <a:rPr lang="en-US" dirty="0" err="1"/>
              <a:t>aplikace</a:t>
            </a:r>
            <a:r>
              <a:rPr lang="en-US" dirty="0"/>
              <a:t>, </a:t>
            </a:r>
            <a:r>
              <a:rPr lang="en-US" dirty="0" err="1"/>
              <a:t>ideálně</a:t>
            </a:r>
            <a:r>
              <a:rPr lang="en-US" dirty="0"/>
              <a:t> bez </a:t>
            </a:r>
            <a:r>
              <a:rPr lang="en-US" dirty="0" err="1"/>
              <a:t>závislosti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konkrétním</a:t>
            </a:r>
            <a:r>
              <a:rPr lang="en-US" dirty="0"/>
              <a:t> </a:t>
            </a:r>
            <a:r>
              <a:rPr lang="en-US" dirty="0" err="1"/>
              <a:t>kontextu</a:t>
            </a:r>
            <a:r>
              <a:rPr lang="en-US" dirty="0"/>
              <a:t>.</a:t>
            </a:r>
            <a:endParaRPr lang="cs-CZ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CAFCB21-A736-9884-9DF5-35EF9273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</a:t>
            </a:r>
            <a:r>
              <a:rPr lang="cs-CZ"/>
              <a:t>komponenty</a:t>
            </a:r>
            <a:r>
              <a:rPr lang="en-US"/>
              <a:t> – </a:t>
            </a:r>
            <a:r>
              <a:rPr lang="cs-CZ"/>
              <a:t>návrh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565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78CCB-ABFB-04D2-EF07-8FF7405A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63EA5B-E0CD-A8F8-AEBE-50D0BA45E5E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083C7E-73AA-1E0B-1344-4F3D693F6D6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3BC15B-06AD-FB11-34C7-23F8B2FE9D2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1A8BBEA-554E-96FD-A7AC-AA915D41EF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169035"/>
            <a:ext cx="11521280" cy="4895849"/>
          </a:xfrm>
        </p:spPr>
        <p:txBody>
          <a:bodyPr/>
          <a:lstStyle/>
          <a:p>
            <a:pPr marL="0" indent="0">
              <a:buNone/>
            </a:pPr>
            <a:r>
              <a:rPr lang="cs-CZ" b="1" dirty="0"/>
              <a:t>RCL – Razor class library</a:t>
            </a:r>
            <a:r>
              <a:rPr lang="en-US" b="1" dirty="0"/>
              <a:t> </a:t>
            </a:r>
            <a:r>
              <a:rPr lang="en-US" dirty="0"/>
              <a:t>– project pro </a:t>
            </a:r>
            <a:r>
              <a:rPr lang="en-US" dirty="0" err="1"/>
              <a:t>tvorbu</a:t>
            </a:r>
            <a:r>
              <a:rPr lang="en-US" dirty="0"/>
              <a:t> Blazor component.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 err="1"/>
              <a:t>Struktura</a:t>
            </a:r>
            <a:r>
              <a:rPr lang="en-US" b="1" u="sng" dirty="0"/>
              <a:t> component:</a:t>
            </a:r>
          </a:p>
          <a:p>
            <a:r>
              <a:rPr lang="en-US" dirty="0" err="1"/>
              <a:t>Komponenta.razor</a:t>
            </a:r>
            <a:r>
              <a:rPr lang="en-US" dirty="0"/>
              <a:t> </a:t>
            </a:r>
          </a:p>
          <a:p>
            <a:r>
              <a:rPr lang="en-US" dirty="0" err="1"/>
              <a:t>Komponenta.razor.cs</a:t>
            </a:r>
            <a:endParaRPr lang="en-US" dirty="0"/>
          </a:p>
          <a:p>
            <a:r>
              <a:rPr lang="en-US" dirty="0"/>
              <a:t>Komponenta.razor.css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...n</a:t>
            </a:r>
            <a:r>
              <a:rPr lang="cs-CZ" dirty="0"/>
              <a:t>ebo jen </a:t>
            </a:r>
            <a:endParaRPr lang="en-US" dirty="0"/>
          </a:p>
          <a:p>
            <a:r>
              <a:rPr lang="cs-CZ" dirty="0"/>
              <a:t>Komponenta.cs</a:t>
            </a:r>
            <a:r>
              <a:rPr lang="en-US" dirty="0"/>
              <a:t> – </a:t>
            </a:r>
            <a:r>
              <a:rPr lang="en-US" dirty="0" err="1"/>
              <a:t>nelze</a:t>
            </a:r>
            <a:r>
              <a:rPr lang="en-US" dirty="0"/>
              <a:t> </a:t>
            </a:r>
            <a:r>
              <a:rPr lang="en-US" dirty="0" err="1"/>
              <a:t>pou</a:t>
            </a:r>
            <a:r>
              <a:rPr lang="cs-CZ" dirty="0"/>
              <a:t>žít</a:t>
            </a:r>
            <a:r>
              <a:rPr lang="en-US" dirty="0"/>
              <a:t> scooped CSS </a:t>
            </a:r>
            <a:r>
              <a:rPr lang="en-US" dirty="0" err="1"/>
              <a:t>styl</a:t>
            </a:r>
            <a:r>
              <a:rPr lang="cs-CZ" dirty="0"/>
              <a:t>ování</a:t>
            </a:r>
            <a:endParaRPr lang="en-US" dirty="0"/>
          </a:p>
          <a:p>
            <a:endParaRPr lang="en-US" dirty="0"/>
          </a:p>
          <a:p>
            <a:r>
              <a:rPr lang="cs-CZ" dirty="0"/>
              <a:t>Komponenta vs </a:t>
            </a:r>
            <a:r>
              <a:rPr lang="en-US" dirty="0"/>
              <a:t>str</a:t>
            </a:r>
            <a:r>
              <a:rPr lang="cs-CZ" dirty="0"/>
              <a:t>ánka </a:t>
            </a:r>
            <a:r>
              <a:rPr lang="en-US" dirty="0"/>
              <a:t>? </a:t>
            </a:r>
            <a:r>
              <a:rPr lang="cs-CZ" dirty="0"/>
              <a:t>=</a:t>
            </a:r>
            <a:r>
              <a:rPr lang="en-US" dirty="0"/>
              <a:t>&gt; @page “/welcome”</a:t>
            </a:r>
            <a:r>
              <a:rPr lang="cs-CZ" dirty="0"/>
              <a:t> =</a:t>
            </a:r>
            <a:r>
              <a:rPr lang="en-US" dirty="0"/>
              <a:t>&gt; </a:t>
            </a:r>
            <a:r>
              <a:rPr lang="en-US" dirty="0" err="1"/>
              <a:t>tzv</a:t>
            </a:r>
            <a:r>
              <a:rPr lang="en-US" dirty="0"/>
              <a:t>. “routable component”</a:t>
            </a:r>
            <a:endParaRPr lang="cs-CZ" dirty="0"/>
          </a:p>
          <a:p>
            <a:endParaRPr lang="cs-C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65F3BB3-6C36-03D1-FDFE-3E2E0F82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</a:t>
            </a:r>
            <a:r>
              <a:rPr lang="cs-CZ"/>
              <a:t>komponenty</a:t>
            </a:r>
            <a:r>
              <a:rPr lang="en-US"/>
              <a:t> - </a:t>
            </a:r>
            <a:r>
              <a:rPr lang="cs-CZ"/>
              <a:t>RCL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4762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50D1-FBAE-167E-A561-B84DDAB2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E9EC22-EB3B-E867-1804-4DAF6672103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603D1C-DD0F-4376-FF38-78DACD72BBF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CDDBAF-9987-1118-C2EE-5AD1F3C9475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7335F-D14A-2946-2497-1974A22B97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b="1" dirty="0"/>
              <a:t>Lok</a:t>
            </a:r>
            <a:r>
              <a:rPr lang="cs-CZ" b="1" dirty="0"/>
              <a:t>ální stav v</a:t>
            </a:r>
            <a:r>
              <a:rPr lang="en-US" b="1" dirty="0"/>
              <a:t> </a:t>
            </a:r>
            <a:r>
              <a:rPr lang="cs-CZ" b="1" dirty="0"/>
              <a:t>k</a:t>
            </a:r>
            <a:r>
              <a:rPr lang="en-US" b="1" dirty="0" err="1"/>
              <a:t>omponent</a:t>
            </a:r>
            <a:r>
              <a:rPr lang="cs-CZ" b="1" dirty="0"/>
              <a:t>ě</a:t>
            </a:r>
            <a:r>
              <a:rPr lang="en-US" b="1" dirty="0"/>
              <a:t> </a:t>
            </a:r>
            <a:r>
              <a:rPr lang="en-US" i="1" dirty="0"/>
              <a:t>(component code)</a:t>
            </a:r>
            <a:endParaRPr lang="cs-CZ" i="1" dirty="0"/>
          </a:p>
          <a:p>
            <a:r>
              <a:rPr lang="en-US" b="1" dirty="0"/>
              <a:t>Stav </a:t>
            </a:r>
            <a:r>
              <a:rPr lang="cs-CZ" b="1" dirty="0"/>
              <a:t>ve</a:t>
            </a:r>
            <a:r>
              <a:rPr lang="en-US" b="1" dirty="0"/>
              <a:t> </a:t>
            </a:r>
            <a:r>
              <a:rPr lang="cs-CZ" b="1" dirty="0"/>
              <a:t>sdílené službě</a:t>
            </a:r>
            <a:r>
              <a:rPr lang="en-US" b="1" dirty="0"/>
              <a:t> </a:t>
            </a:r>
            <a:r>
              <a:rPr lang="en-US" i="1" dirty="0"/>
              <a:t>(nap</a:t>
            </a:r>
            <a:r>
              <a:rPr lang="cs-CZ" i="1" dirty="0"/>
              <a:t>ř. s</a:t>
            </a:r>
            <a:r>
              <a:rPr lang="en-US" i="1" dirty="0" err="1"/>
              <a:t>ingleton</a:t>
            </a:r>
            <a:r>
              <a:rPr lang="en-US" i="1" dirty="0"/>
              <a:t>)</a:t>
            </a:r>
          </a:p>
          <a:p>
            <a:r>
              <a:rPr lang="cs-CZ" b="1" dirty="0"/>
              <a:t>Různé knihovny</a:t>
            </a:r>
            <a:r>
              <a:rPr lang="en-US" sz="2000" b="1" dirty="0"/>
              <a:t> </a:t>
            </a:r>
            <a:r>
              <a:rPr lang="en-US" i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(Using </a:t>
            </a:r>
            <a:r>
              <a:rPr lang="en-US" i="1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Fluxor</a:t>
            </a:r>
            <a:r>
              <a:rPr lang="en-US" i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i="1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State Management in Blazor | by Is It Vritra - SDE I | Medium</a:t>
            </a:r>
            <a:r>
              <a:rPr lang="en-US" i="1" u="sng" dirty="0"/>
              <a:t>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0626CC6-5C14-5D6B-FB35-18A99E0D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 s</a:t>
            </a:r>
            <a:r>
              <a:rPr lang="en-US" err="1"/>
              <a:t>tavov</a:t>
            </a:r>
            <a:r>
              <a:rPr lang="cs-CZ"/>
              <a:t>ý</a:t>
            </a:r>
            <a:r>
              <a:rPr lang="en-US"/>
              <a:t> management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4925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0ECD-BA4E-8970-63F6-4E6E7D4F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5A773F-9A49-A62C-36DF-DC0E120DB28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73BE51-A81E-BB8C-4A4A-3B223DCEDC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FDE3F7-2541-DCEA-48A5-1089B021287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4F9619-656D-41C3-654E-323FF27E25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 dirty="0"/>
              <a:t>Parametry</a:t>
            </a:r>
            <a:endParaRPr lang="en-US" dirty="0"/>
          </a:p>
          <a:p>
            <a:r>
              <a:rPr lang="en-US" dirty="0" err="1"/>
              <a:t>EventCallback</a:t>
            </a:r>
            <a:r>
              <a:rPr lang="cs-CZ" dirty="0"/>
              <a:t>y</a:t>
            </a:r>
            <a:endParaRPr lang="en-US" dirty="0"/>
          </a:p>
          <a:p>
            <a:r>
              <a:rPr lang="cs-CZ" dirty="0"/>
              <a:t>Kaskádové hodnoty + kaskádové parametry</a:t>
            </a:r>
            <a:endParaRPr lang="en-US" dirty="0"/>
          </a:p>
          <a:p>
            <a:r>
              <a:rPr lang="en-US" dirty="0" err="1"/>
              <a:t>Stavov</a:t>
            </a:r>
            <a:r>
              <a:rPr lang="cs-CZ" dirty="0"/>
              <a:t>é služby</a:t>
            </a:r>
            <a:endParaRPr lang="en-US" dirty="0"/>
          </a:p>
          <a:p>
            <a:pPr marL="0" indent="0">
              <a:buNone/>
            </a:pPr>
            <a:endParaRPr lang="de-DE" sz="20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0C2140F-9E38-D21B-EEC0-1095039A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-</a:t>
            </a:r>
            <a:r>
              <a:rPr lang="en-US"/>
              <a:t> k</a:t>
            </a:r>
            <a:r>
              <a:rPr lang="cs-CZ"/>
              <a:t>omunikace mezi komponentami</a:t>
            </a:r>
          </a:p>
        </p:txBody>
      </p:sp>
    </p:spTree>
    <p:extLst>
      <p:ext uri="{BB962C8B-B14F-4D97-AF65-F5344CB8AC3E}">
        <p14:creationId xmlns:p14="http://schemas.microsoft.com/office/powerpoint/2010/main" val="1171610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3639-1873-BB6F-0F3B-6C9C46F4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E607F6-28C8-FB34-5A02-7D0CCFB69A9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72DCEF-9041-9DD2-3811-0E977AB93CC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FA110F-D429-BB6F-9AB1-3EB66A370F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5CCFBE7-ADEE-F4BB-85C9-3AD17EB9F0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b="1"/>
              <a:t>The “parameter-down” &amp; “</a:t>
            </a:r>
            <a:r>
              <a:rPr lang="en-US" b="1" err="1"/>
              <a:t>EventCallback</a:t>
            </a:r>
            <a:r>
              <a:rPr lang="en-US" b="1"/>
              <a:t>-up” pattern</a:t>
            </a:r>
          </a:p>
          <a:p>
            <a:pPr marL="0" indent="0">
              <a:buNone/>
            </a:pPr>
            <a:endParaRPr lang="de-DE" sz="200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0243628-7D52-6EC5-9E80-F05D9A2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-</a:t>
            </a:r>
            <a:r>
              <a:rPr lang="en-US"/>
              <a:t> k</a:t>
            </a:r>
            <a:r>
              <a:rPr lang="cs-CZ"/>
              <a:t>omunikace mezi komponentami</a:t>
            </a:r>
          </a:p>
        </p:txBody>
      </p:sp>
      <p:pic>
        <p:nvPicPr>
          <p:cNvPr id="11" name="Picture 10" descr="A diagram of a parent&#10;&#10;AI-generated content may be incorrect.">
            <a:extLst>
              <a:ext uri="{FF2B5EF4-FFF2-40B4-BE49-F238E27FC236}">
                <a16:creationId xmlns:a16="http://schemas.microsoft.com/office/drawing/2014/main" id="{8EC26B3A-55C0-BCE9-34E2-BAC2394B6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2636912"/>
            <a:ext cx="5601976" cy="229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28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3F4C-37CC-6F80-4318-653B772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2576E9-7919-355F-806D-EC93E2B7723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C54880-59C0-2E09-D6DC-3CE50767501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9F7027-AFFF-E5B5-D771-F3B3869C321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85BF34-93DB-A0E3-AB0A-AF4D54363D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b="1"/>
              <a:t>J</a:t>
            </a:r>
            <a:r>
              <a:rPr lang="en-US" b="1" err="1"/>
              <a:t>ednosm</a:t>
            </a:r>
            <a:r>
              <a:rPr lang="cs-CZ" b="1"/>
              <a:t>ěrný </a:t>
            </a:r>
            <a:r>
              <a:rPr lang="en-US" b="1"/>
              <a:t>(One-way)</a:t>
            </a:r>
            <a:endParaRPr lang="cs-CZ" b="1"/>
          </a:p>
          <a:p>
            <a:r>
              <a:rPr lang="en-US" altLang="en-US"/>
              <a:t>@{value} or @bind-Value="value" pro </a:t>
            </a:r>
            <a:r>
              <a:rPr lang="en-US" altLang="en-US" err="1"/>
              <a:t>čtení</a:t>
            </a:r>
            <a:endParaRPr lang="en-US" altLang="en-US"/>
          </a:p>
          <a:p>
            <a:pPr marL="0" indent="0">
              <a:buNone/>
            </a:pPr>
            <a:endParaRPr lang="cs-CZ" sz="1600" b="1"/>
          </a:p>
          <a:p>
            <a:pPr marL="0" indent="0">
              <a:buNone/>
            </a:pPr>
            <a:r>
              <a:rPr lang="cs-CZ" b="1"/>
              <a:t>Obou</a:t>
            </a:r>
            <a:r>
              <a:rPr lang="en-US" b="1" err="1"/>
              <a:t>sm</a:t>
            </a:r>
            <a:r>
              <a:rPr lang="cs-CZ" b="1"/>
              <a:t>ěrný</a:t>
            </a:r>
            <a:r>
              <a:rPr lang="en-US" b="1"/>
              <a:t> (Two-way)</a:t>
            </a:r>
            <a:endParaRPr lang="cs-CZ" b="1"/>
          </a:p>
          <a:p>
            <a:r>
              <a:rPr lang="en-US" altLang="en-US"/>
              <a:t>@{value} or @bind-Value="value" pro </a:t>
            </a:r>
            <a:r>
              <a:rPr lang="en-US" altLang="en-US" err="1"/>
              <a:t>čtení</a:t>
            </a:r>
            <a:endParaRPr lang="en-US" i="1" u="sng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9EF8794-F124-2912-8382-63917792C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-</a:t>
            </a:r>
            <a:r>
              <a:rPr lang="en-US"/>
              <a:t> data binding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4307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DE46-949E-53BB-75C8-94C50192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63BB700-AD52-8278-45FC-77CA1F5D520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D5D795-4072-878B-B13F-2CD7862DC1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2B3AE0-4C1A-75A9-4F70-934CD57C5C7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FE93AF-59F1-FBB8-A360-A657145C57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b="1" dirty="0"/>
              <a:t>@onclick @onchange @onsubmit </a:t>
            </a:r>
            <a:r>
              <a:rPr lang="en-US" i="1" dirty="0"/>
              <a:t>(</a:t>
            </a:r>
            <a:r>
              <a:rPr lang="en-US" i="1" dirty="0" err="1"/>
              <a:t>Možnost</a:t>
            </a:r>
            <a:r>
              <a:rPr lang="en-US" i="1" dirty="0"/>
              <a:t> </a:t>
            </a:r>
            <a:r>
              <a:rPr lang="en-US" i="1" dirty="0" err="1"/>
              <a:t>předat</a:t>
            </a:r>
            <a:r>
              <a:rPr lang="en-US" i="1" dirty="0"/>
              <a:t> </a:t>
            </a:r>
            <a:r>
              <a:rPr lang="en-US" i="1" dirty="0" err="1"/>
              <a:t>metodu</a:t>
            </a:r>
            <a:r>
              <a:rPr lang="en-US" i="1" dirty="0"/>
              <a:t> </a:t>
            </a:r>
            <a:r>
              <a:rPr lang="en-US" i="1" dirty="0" err="1"/>
              <a:t>nebo</a:t>
            </a:r>
            <a:r>
              <a:rPr lang="en-US" i="1" dirty="0"/>
              <a:t> lambda </a:t>
            </a:r>
            <a:r>
              <a:rPr lang="en-US" i="1" dirty="0" err="1"/>
              <a:t>výraz</a:t>
            </a:r>
            <a:r>
              <a:rPr lang="en-US" i="1" dirty="0"/>
              <a:t>)</a:t>
            </a:r>
          </a:p>
          <a:p>
            <a:pPr marL="0" indent="0">
              <a:buNone/>
            </a:pPr>
            <a:endParaRPr lang="en-US" i="1" u="sng" dirty="0"/>
          </a:p>
          <a:p>
            <a:pPr marL="0" indent="0">
              <a:buNone/>
            </a:pPr>
            <a:r>
              <a:rPr lang="en-US" sz="1200" i="1" dirty="0"/>
              <a:t> @onclick=“HandleDivOnClickAsync” </a:t>
            </a:r>
            <a:r>
              <a:rPr lang="en-US" sz="1200" b="1" dirty="0" err="1"/>
              <a:t>nebo</a:t>
            </a:r>
            <a:r>
              <a:rPr lang="en-US" sz="1200" i="1" dirty="0"/>
              <a:t> @onclick=“@((e) =&gt; </a:t>
            </a:r>
            <a:r>
              <a:rPr lang="en-US" sz="1200" i="1" dirty="0" err="1"/>
              <a:t>HandleDivOnClickAsync</a:t>
            </a:r>
            <a:r>
              <a:rPr lang="en-US" sz="1200" i="1" dirty="0"/>
              <a:t>(e))”&gt;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sz="1200" i="1" dirty="0"/>
              <a:t>&lt;div @onclick=“HandleDivOnClickAsync”&gt;</a:t>
            </a:r>
          </a:p>
          <a:p>
            <a:pPr marL="0" indent="0">
              <a:buNone/>
            </a:pPr>
            <a:r>
              <a:rPr lang="en-US" sz="1200" i="1" dirty="0"/>
              <a:t>    &lt;p&gt;Text&lt;/p&gt;</a:t>
            </a:r>
          </a:p>
          <a:p>
            <a:pPr marL="0" indent="0">
              <a:buNone/>
            </a:pPr>
            <a:r>
              <a:rPr lang="en-US" sz="1200" i="1" dirty="0"/>
              <a:t>&lt;/div&gt;</a:t>
            </a:r>
          </a:p>
          <a:p>
            <a:pPr marL="0" indent="0">
              <a:buNone/>
            </a:pPr>
            <a:r>
              <a:rPr lang="en-US" sz="1200" i="1" dirty="0"/>
              <a:t>@code {</a:t>
            </a:r>
          </a:p>
          <a:p>
            <a:pPr marL="0" indent="0">
              <a:buNone/>
            </a:pPr>
            <a:r>
              <a:rPr lang="en-US" sz="1200" i="1" dirty="0"/>
              <a:t>	private async Task </a:t>
            </a:r>
            <a:r>
              <a:rPr lang="en-US" sz="1200" i="1" dirty="0" err="1"/>
              <a:t>HandleDivOnClickAsync</a:t>
            </a:r>
            <a:r>
              <a:rPr lang="en-US" sz="1200" i="1" dirty="0"/>
              <a:t>(</a:t>
            </a:r>
            <a:r>
              <a:rPr lang="en-US" sz="1200" i="1" dirty="0" err="1"/>
              <a:t>MouseEventArgs</a:t>
            </a:r>
            <a:r>
              <a:rPr lang="en-US" sz="1200" i="1" dirty="0"/>
              <a:t> e)</a:t>
            </a:r>
          </a:p>
          <a:p>
            <a:pPr marL="0" indent="0">
              <a:buNone/>
            </a:pPr>
            <a:r>
              <a:rPr lang="en-US" sz="1200" i="1" dirty="0"/>
              <a:t>	{</a:t>
            </a:r>
          </a:p>
          <a:p>
            <a:pPr marL="0" indent="0">
              <a:buNone/>
            </a:pPr>
            <a:r>
              <a:rPr lang="en-US" sz="1200" i="1" dirty="0"/>
              <a:t>	    // NOOP</a:t>
            </a:r>
          </a:p>
          <a:p>
            <a:pPr marL="0" indent="0">
              <a:buNone/>
            </a:pPr>
            <a:r>
              <a:rPr lang="en-US" sz="1200" i="1" dirty="0"/>
              <a:t>	    await </a:t>
            </a:r>
            <a:r>
              <a:rPr lang="en-US" sz="1200" i="1" dirty="0" err="1"/>
              <a:t>Task.CompletedTask</a:t>
            </a:r>
            <a:r>
              <a:rPr lang="en-US" sz="1200" i="1" dirty="0"/>
              <a:t>.</a:t>
            </a:r>
          </a:p>
          <a:p>
            <a:pPr marL="0" indent="0">
              <a:buNone/>
            </a:pPr>
            <a:r>
              <a:rPr lang="en-US" sz="1200" i="1" dirty="0"/>
              <a:t>	}</a:t>
            </a:r>
          </a:p>
          <a:p>
            <a:pPr marL="0" indent="0">
              <a:buNone/>
            </a:pPr>
            <a:r>
              <a:rPr lang="en-US" sz="1200" i="1" dirty="0"/>
              <a:t>}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277E74D-3B35-0F6F-5F73-F8C6055F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</a:t>
            </a:r>
            <a:r>
              <a:rPr lang="en-US" err="1"/>
              <a:t>obsluha</a:t>
            </a:r>
            <a:r>
              <a:rPr lang="en-US"/>
              <a:t> </a:t>
            </a:r>
            <a:r>
              <a:rPr lang="en-US" err="1"/>
              <a:t>ud</a:t>
            </a:r>
            <a:r>
              <a:rPr lang="cs-CZ"/>
              <a:t>álostí </a:t>
            </a:r>
            <a:r>
              <a:rPr lang="en-US"/>
              <a:t>(event handling)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7605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AA9BD-BFEC-8865-B131-E5983697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CC0D04E-BCB9-D8C6-FC98-8CAEE6D2D83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7DE7DE-676B-4358-3AE5-750415F4E57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1EEF7B-5129-F5AE-9D00-9BEDF9F45AE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433B740-B599-FD3F-09F9-1756FE8F29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@inject </a:t>
            </a:r>
            <a:r>
              <a:rPr lang="en-US" dirty="0" err="1"/>
              <a:t>IStateService</a:t>
            </a:r>
            <a:r>
              <a:rPr lang="en-US" dirty="0"/>
              <a:t> </a:t>
            </a:r>
            <a:r>
              <a:rPr lang="en-US" dirty="0" err="1"/>
              <a:t>stateService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[Inject] private </a:t>
            </a:r>
            <a:r>
              <a:rPr lang="en-US" dirty="0" err="1"/>
              <a:t>IStateService</a:t>
            </a:r>
            <a:r>
              <a:rPr lang="en-US" dirty="0"/>
              <a:t> </a:t>
            </a:r>
            <a:r>
              <a:rPr lang="en-US" dirty="0" err="1"/>
              <a:t>stateService</a:t>
            </a:r>
            <a:r>
              <a:rPr lang="en-US" dirty="0"/>
              <a:t> { get; set; } = default!;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Constructor injection:</a:t>
            </a:r>
          </a:p>
          <a:p>
            <a:pPr marL="0" indent="0">
              <a:buNone/>
            </a:pPr>
            <a:r>
              <a:rPr lang="en-US" sz="1600" dirty="0"/>
              <a:t>private </a:t>
            </a:r>
            <a:r>
              <a:rPr lang="en-US" sz="1600" dirty="0" err="1"/>
              <a:t>readonly</a:t>
            </a:r>
            <a:r>
              <a:rPr lang="en-US" sz="1600" dirty="0"/>
              <a:t> </a:t>
            </a:r>
            <a:r>
              <a:rPr lang="en-US" sz="1600" dirty="0" err="1"/>
              <a:t>StateService</a:t>
            </a:r>
            <a:r>
              <a:rPr lang="en-US" sz="1600" dirty="0"/>
              <a:t> _</a:t>
            </a:r>
            <a:r>
              <a:rPr lang="en-US" sz="1600" dirty="0" err="1"/>
              <a:t>stateService</a:t>
            </a:r>
            <a:r>
              <a:rPr lang="en-US" sz="1600" dirty="0"/>
              <a:t>;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public</a:t>
            </a:r>
            <a:r>
              <a:rPr lang="en-US" sz="1600" b="1" dirty="0"/>
              <a:t> </a:t>
            </a:r>
            <a:r>
              <a:rPr lang="en-US" sz="1600" b="1" dirty="0" err="1"/>
              <a:t>MyComponent</a:t>
            </a:r>
            <a:r>
              <a:rPr lang="en-US" sz="1600" b="1" dirty="0"/>
              <a:t> (</a:t>
            </a:r>
            <a:r>
              <a:rPr lang="en-US" sz="1600" dirty="0" err="1"/>
              <a:t>StateService</a:t>
            </a:r>
            <a:r>
              <a:rPr lang="en-US" sz="1600" dirty="0"/>
              <a:t> </a:t>
            </a:r>
            <a:r>
              <a:rPr lang="en-US" sz="1600" dirty="0" err="1"/>
              <a:t>stateService</a:t>
            </a:r>
            <a:r>
              <a:rPr lang="en-US" sz="1600" b="1" dirty="0"/>
              <a:t>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216000" lvl="1" indent="0">
              <a:buNone/>
            </a:pPr>
            <a:r>
              <a:rPr lang="en-US" sz="1600" dirty="0"/>
              <a:t>_</a:t>
            </a:r>
            <a:r>
              <a:rPr lang="en-US" sz="1600" dirty="0" err="1"/>
              <a:t>stateService</a:t>
            </a:r>
            <a:r>
              <a:rPr lang="en-US" sz="1600" dirty="0"/>
              <a:t> = </a:t>
            </a:r>
            <a:r>
              <a:rPr lang="en-US" sz="1600" dirty="0" err="1"/>
              <a:t>stateService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D85EB62-4BEE-E24C-FF5C-3E79DA2B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</a:t>
            </a:r>
            <a:r>
              <a:rPr lang="cs-CZ"/>
              <a:t>d</a:t>
            </a:r>
            <a:r>
              <a:rPr lang="en-US" err="1"/>
              <a:t>ependency</a:t>
            </a:r>
            <a:r>
              <a:rPr lang="en-US"/>
              <a:t> injection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2620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2466-945B-5364-4986-FE5C73E6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4C15ABE-C4C6-79B7-4063-BF91362E890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92CC099-DA70-8D61-1086-BCF53194FAA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A14588-90CC-C124-8E62-10AF7E36F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FBD6E1F-5BA9-8FFB-A72E-577FE626F0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b="1" dirty="0"/>
              <a:t>I</a:t>
            </a:r>
            <a:r>
              <a:rPr lang="cs-CZ" b="1" dirty="0"/>
              <a:t>D</a:t>
            </a:r>
            <a:r>
              <a:rPr lang="en-US" b="1" dirty="0" err="1"/>
              <a:t>isposable</a:t>
            </a:r>
            <a:r>
              <a:rPr lang="cs-CZ" b="1" dirty="0"/>
              <a:t>: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 err="1"/>
              <a:t>IAsyncDisposable</a:t>
            </a:r>
            <a:r>
              <a:rPr lang="cs-CZ" b="1" dirty="0"/>
              <a:t>: </a:t>
            </a:r>
            <a:r>
              <a:rPr lang="cs-CZ" dirty="0"/>
              <a:t>doporučená varianta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r>
              <a:rPr lang="en-US" dirty="0">
                <a:hlinkClick r:id="rId2"/>
              </a:rPr>
              <a:t>ASP.NET Core Razor component disposal | Microsoft Learn</a:t>
            </a:r>
            <a:endParaRPr lang="en-US" b="1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E882AB6-3B29-3841-849B-7608CD08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</a:t>
            </a:r>
            <a:r>
              <a:rPr lang="cs-CZ"/>
              <a:t>component </a:t>
            </a:r>
            <a:r>
              <a:rPr lang="en-US"/>
              <a:t>disposal</a:t>
            </a:r>
          </a:p>
        </p:txBody>
      </p:sp>
    </p:spTree>
    <p:extLst>
      <p:ext uri="{BB962C8B-B14F-4D97-AF65-F5344CB8AC3E}">
        <p14:creationId xmlns:p14="http://schemas.microsoft.com/office/powerpoint/2010/main" val="3791639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FFBF-62BE-113B-8402-A432A44C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631A558-797C-2017-06D9-9B4A1C17152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4B07FB-1E7E-5ED1-955B-6C991A58392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3ADE05-7BDD-C666-C4A3-BA60B906721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34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770711-5E63-B86E-5923-EA9FB4CE4D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 b="1" dirty="0"/>
              <a:t>Globální CSS styly</a:t>
            </a:r>
          </a:p>
          <a:p>
            <a:r>
              <a:rPr lang="cs-CZ" b="1" dirty="0"/>
              <a:t> </a:t>
            </a:r>
            <a:r>
              <a:rPr lang="en-US" dirty="0"/>
              <a:t>&lt;link </a:t>
            </a:r>
            <a:r>
              <a:rPr lang="en-US" dirty="0" err="1"/>
              <a:t>href</a:t>
            </a:r>
            <a:r>
              <a:rPr lang="en-US" dirty="0"/>
              <a:t>="@</a:t>
            </a:r>
            <a:r>
              <a:rPr lang="en-US" b="1" dirty="0"/>
              <a:t>Assets</a:t>
            </a:r>
            <a:r>
              <a:rPr lang="en-US" dirty="0"/>
              <a:t>["{PACKAGE ID/ASSEMBLY NAME}.styles.css"]" </a:t>
            </a:r>
            <a:r>
              <a:rPr lang="en-US" dirty="0" err="1"/>
              <a:t>rel</a:t>
            </a:r>
            <a:r>
              <a:rPr lang="en-US" dirty="0"/>
              <a:t>="stylesheet"&gt;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cs-CZ" b="1" dirty="0"/>
              <a:t>Scoped CSS styly</a:t>
            </a:r>
            <a:r>
              <a:rPr lang="en-US" b="1" dirty="0"/>
              <a:t>: </a:t>
            </a:r>
            <a:endParaRPr lang="cs-CZ" b="1" dirty="0"/>
          </a:p>
          <a:p>
            <a:r>
              <a:rPr lang="en-US" dirty="0"/>
              <a:t>pro dan</a:t>
            </a:r>
            <a:r>
              <a:rPr lang="cs-CZ" dirty="0"/>
              <a:t>ý typ komponenty</a:t>
            </a:r>
          </a:p>
          <a:p>
            <a:r>
              <a:rPr lang="cs-CZ" dirty="0"/>
              <a:t>Vyžaduje .razor komponent jinak nefunguje</a:t>
            </a:r>
          </a:p>
          <a:p>
            <a:r>
              <a:rPr lang="cs-CZ" dirty="0"/>
              <a:t>: : deep v CSS pro aplikaci stylu z parent do child komponenty</a:t>
            </a:r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D4F54C2-84C3-8492-2124-A56447488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</a:t>
            </a:r>
            <a:r>
              <a:rPr lang="cs-CZ"/>
              <a:t>stylování komponent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94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E2F5-B3BD-CC91-1D45-AA98DA26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294BD70-74D1-72CB-78DA-CB7B2B64741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DB5642-772F-F748-EF14-DB7547A214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7BB020-D1C6-7528-7693-060A360ACF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6200445-E9A3-2F0D-3601-8C9B41024E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Dotazy</a:t>
            </a:r>
            <a:r>
              <a:rPr lang="cs-CZ" b="1" dirty="0"/>
              <a:t> </a:t>
            </a:r>
            <a:r>
              <a:rPr lang="en-US" b="1" dirty="0"/>
              <a:t>?</a:t>
            </a:r>
            <a:r>
              <a:rPr lang="cs-CZ" b="1" dirty="0"/>
              <a:t> </a:t>
            </a:r>
            <a:endParaRPr lang="en-US" b="1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713686C-EAC5-A63C-45E8-EE96699A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z</a:t>
            </a:r>
            <a:r>
              <a:rPr lang="cs-CZ"/>
              <a:t>ávěr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67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14F6-889F-7AD0-7487-06F4A1CA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B80198-6CAA-381A-ADF4-08BED4B8481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9F1460-AF31-C806-6ABF-47AFB43A50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Projekt webConfig: .NET a framework Blazor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056B3C-A6D1-620B-FA57-3B09B682E08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36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3F89D1-BCD3-BE23-398A-6A59564450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b="1" dirty="0"/>
              <a:t>Zdroje ke studiu: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- </a:t>
            </a:r>
            <a:r>
              <a:rPr lang="en-US" dirty="0">
                <a:hlinkClick r:id="rId2"/>
              </a:rPr>
              <a:t>ASP.NET documentation | Microsoft Learn</a:t>
            </a:r>
            <a:endParaRPr lang="cs-CZ" b="1" dirty="0"/>
          </a:p>
          <a:p>
            <a:pPr marL="0" indent="0">
              <a:buNone/>
            </a:pPr>
            <a:r>
              <a:rPr lang="cs-CZ" b="1" dirty="0"/>
              <a:t> - </a:t>
            </a:r>
            <a:r>
              <a:rPr lang="en-US" dirty="0">
                <a:hlinkClick r:id="rId3"/>
              </a:rPr>
              <a:t>ASP.NET Core Blazor | Microsoft Learn</a:t>
            </a:r>
            <a:endParaRPr lang="cs-CZ" b="1" dirty="0"/>
          </a:p>
          <a:p>
            <a:pPr marL="0" indent="0">
              <a:buNone/>
            </a:pPr>
            <a:r>
              <a:rPr lang="cs-CZ" b="1" dirty="0"/>
              <a:t> - </a:t>
            </a:r>
            <a:r>
              <a:rPr lang="en-US" dirty="0">
                <a:hlinkClick r:id="rId4"/>
              </a:rPr>
              <a:t>https://blazor-university.com/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 </a:t>
            </a:r>
            <a:r>
              <a:rPr lang="cs-CZ" b="1" dirty="0"/>
              <a:t>Knihovny Blazor komponent </a:t>
            </a:r>
            <a:r>
              <a:rPr lang="en-US" b="1" dirty="0"/>
              <a:t>(FREE)</a:t>
            </a:r>
            <a:r>
              <a:rPr lang="cs-CZ" b="1" dirty="0"/>
              <a:t>:</a:t>
            </a:r>
          </a:p>
          <a:p>
            <a:pPr marL="0" indent="0">
              <a:buNone/>
            </a:pPr>
            <a:r>
              <a:rPr lang="cs-CZ" b="1" dirty="0"/>
              <a:t> - </a:t>
            </a:r>
            <a:r>
              <a:rPr lang="en-US" dirty="0">
                <a:hlinkClick r:id="rId5"/>
              </a:rPr>
              <a:t>Welcome - Fluent UI Blazor library</a:t>
            </a:r>
            <a:endParaRPr lang="cs-CZ" b="1" dirty="0"/>
          </a:p>
          <a:p>
            <a:pPr marL="0" indent="0">
              <a:buNone/>
            </a:pPr>
            <a:r>
              <a:rPr lang="cs-CZ" dirty="0"/>
              <a:t> - </a:t>
            </a:r>
            <a:r>
              <a:rPr lang="en-US" dirty="0" err="1">
                <a:hlinkClick r:id="rId6"/>
              </a:rPr>
              <a:t>Blazorise</a:t>
            </a:r>
            <a:r>
              <a:rPr lang="en-US" dirty="0">
                <a:hlinkClick r:id="rId6"/>
              </a:rPr>
              <a:t> - Blazor Component Library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- </a:t>
            </a:r>
            <a:r>
              <a:rPr lang="en-US" dirty="0" err="1">
                <a:hlinkClick r:id="rId7"/>
              </a:rPr>
              <a:t>MudBlazor</a:t>
            </a:r>
            <a:r>
              <a:rPr lang="en-US" dirty="0">
                <a:hlinkClick r:id="rId7"/>
              </a:rPr>
              <a:t> - Blazor Component Library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- </a:t>
            </a:r>
            <a:r>
              <a:rPr lang="en-US" dirty="0">
                <a:hlinkClick r:id="rId8"/>
              </a:rPr>
              <a:t>HAVIT Blazor | Free Bootstrap 5 components for Blazor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- </a:t>
            </a:r>
            <a:r>
              <a:rPr lang="en-US" dirty="0">
                <a:hlinkClick r:id="rId9"/>
              </a:rPr>
              <a:t>Free Blazor Components | 100+ UI controls by </a:t>
            </a:r>
            <a:r>
              <a:rPr lang="en-US" dirty="0" err="1">
                <a:hlinkClick r:id="rId9"/>
              </a:rPr>
              <a:t>Radzen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Komerční knihovny: Telerik, Syncfusion...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7983E80-3426-6781-D595-56FC801C8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Blazor</a:t>
            </a:r>
            <a:r>
              <a:rPr lang="cs-CZ"/>
              <a:t> –</a:t>
            </a:r>
            <a:r>
              <a:rPr lang="en-US"/>
              <a:t> </a:t>
            </a:r>
            <a:r>
              <a:rPr lang="cs-CZ"/>
              <a:t>kde začít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045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FB09-5945-1C02-0AA3-A164E3DA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9C5070-8A1B-BD92-60FB-639FD93D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cs-CZ" dirty="0"/>
              <a:t>ód pro Visual studio 2022 / 2026</a:t>
            </a:r>
            <a:endParaRPr lang="en-US" dirty="0"/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3925FE5-3E2B-5634-8E9E-9D2ECAAA4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010" y="1445577"/>
            <a:ext cx="3968022" cy="3968022"/>
          </a:xfrm>
          <a:prstGeom prst="rect">
            <a:avLst/>
          </a:prstGeom>
        </p:spPr>
      </p:pic>
      <p:sp>
        <p:nvSpPr>
          <p:cNvPr id="4" name="Textplatzhalter 4">
            <a:extLst>
              <a:ext uri="{FF2B5EF4-FFF2-40B4-BE49-F238E27FC236}">
                <a16:creationId xmlns:a16="http://schemas.microsoft.com/office/drawing/2014/main" id="{5BBE751C-24DD-C6B6-5C67-D568DE099A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5360" y="1412875"/>
            <a:ext cx="6504352" cy="48958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Jak </a:t>
            </a:r>
            <a:r>
              <a:rPr lang="en-US" b="1" dirty="0" err="1"/>
              <a:t>otev</a:t>
            </a:r>
            <a:r>
              <a:rPr lang="cs-CZ" b="1" dirty="0"/>
              <a:t>řít:</a:t>
            </a:r>
          </a:p>
          <a:p>
            <a:pPr marL="0" indent="0">
              <a:buNone/>
            </a:pPr>
            <a:r>
              <a:rPr lang="en-US" b="1" dirty="0"/>
              <a:t>I</a:t>
            </a:r>
            <a:r>
              <a:rPr lang="cs-CZ" b="1" dirty="0"/>
              <a:t>nstalace VS 2022/2026 Community </a:t>
            </a:r>
            <a:r>
              <a:rPr lang="en-US" b="1" dirty="0"/>
              <a:t>(</a:t>
            </a:r>
            <a:r>
              <a:rPr lang="cs-CZ" b="1" dirty="0"/>
              <a:t>zdarma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cs-CZ" sz="1600" b="1" dirty="0"/>
              <a:t>Ve Visual Studio Installer </a:t>
            </a:r>
            <a:r>
              <a:rPr lang="en-US" sz="1600" b="1" dirty="0" err="1"/>
              <a:t>vybrat</a:t>
            </a:r>
            <a:r>
              <a:rPr lang="en-US" sz="1600" b="1" dirty="0"/>
              <a:t>: </a:t>
            </a:r>
            <a:endParaRPr lang="cs-CZ" sz="1600" b="1" dirty="0"/>
          </a:p>
          <a:p>
            <a:pPr marL="0" indent="0">
              <a:buNone/>
            </a:pPr>
            <a:r>
              <a:rPr lang="cs-CZ" sz="1600" dirty="0"/>
              <a:t> - </a:t>
            </a:r>
            <a:r>
              <a:rPr lang="en-US" sz="1600" dirty="0"/>
              <a:t>V</a:t>
            </a:r>
            <a:r>
              <a:rPr lang="cs-CZ" sz="1600" dirty="0"/>
              <a:t>ývoj pro ASP.NET a web</a:t>
            </a:r>
          </a:p>
          <a:p>
            <a:pPr marL="0" indent="0">
              <a:buNone/>
            </a:pPr>
            <a:r>
              <a:rPr lang="cs-CZ" sz="1600" dirty="0"/>
              <a:t> - Vývoj pro .NET Multi-Platform App</a:t>
            </a:r>
            <a:r>
              <a:rPr lang="en-US" sz="1600" dirty="0"/>
              <a:t>z</a:t>
            </a:r>
            <a:r>
              <a:rPr lang="cs-CZ" sz="1600" dirty="0"/>
              <a:t> Ui</a:t>
            </a:r>
          </a:p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r>
              <a:rPr lang="cs-CZ" b="1" dirty="0"/>
              <a:t> Nainstalovat:</a:t>
            </a:r>
            <a:r>
              <a:rPr lang="en-US" b="1" dirty="0"/>
              <a:t> </a:t>
            </a:r>
            <a:r>
              <a:rPr lang="en-US" b="1" dirty="0">
                <a:hlinkClick r:id="rId3"/>
              </a:rPr>
              <a:t>.NET SDK 9.0</a:t>
            </a:r>
            <a:endParaRPr lang="cs-CZ" b="1" dirty="0"/>
          </a:p>
          <a:p>
            <a:pPr marL="0" indent="0">
              <a:buNone/>
            </a:pPr>
            <a:r>
              <a:rPr lang="cs-CZ" b="1" dirty="0"/>
              <a:t> Spustit příkaz</a:t>
            </a:r>
            <a:r>
              <a:rPr lang="en-US" b="1" dirty="0"/>
              <a:t>: </a:t>
            </a:r>
            <a:r>
              <a:rPr lang="en-US" dirty="0"/>
              <a:t>dotnet workload install </a:t>
            </a:r>
            <a:r>
              <a:rPr lang="en-US" dirty="0" err="1"/>
              <a:t>maui</a:t>
            </a:r>
            <a:endParaRPr lang="en-US" b="1" dirty="0"/>
          </a:p>
          <a:p>
            <a:pPr marL="0" indent="0">
              <a:buNone/>
            </a:pPr>
            <a:endParaRPr lang="en-US" dirty="0">
              <a:hlinkClick r:id="rId4"/>
            </a:endParaRPr>
          </a:p>
          <a:p>
            <a:pPr marL="0" indent="0">
              <a:buNone/>
            </a:pPr>
            <a:endParaRPr lang="en-US" dirty="0">
              <a:hlinkClick r:id="rId4"/>
            </a:endParaRPr>
          </a:p>
          <a:p>
            <a:pPr marL="0" indent="0">
              <a:buNone/>
            </a:pPr>
            <a:endParaRPr lang="en-US" dirty="0">
              <a:hlinkClick r:id="rId4"/>
            </a:endParaRP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9E42E5FE-84D3-4BB3-305D-9D5F31C46820}"/>
              </a:ext>
            </a:extLst>
          </p:cNvPr>
          <p:cNvSpPr txBox="1">
            <a:spLocks/>
          </p:cNvSpPr>
          <p:nvPr/>
        </p:nvSpPr>
        <p:spPr bwMode="gray">
          <a:xfrm>
            <a:off x="5687648" y="5917754"/>
            <a:ext cx="6504352" cy="51041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216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&lt;Code </a:t>
            </a:r>
            <a:r>
              <a:rPr lang="en-US" sz="1400" b="1" dirty="0" err="1"/>
              <a:t>Href</a:t>
            </a:r>
            <a:r>
              <a:rPr lang="en-US" sz="1400" b="1" dirty="0"/>
              <a:t>=“</a:t>
            </a:r>
            <a:r>
              <a:rPr lang="cs-CZ" sz="1400" b="1" dirty="0">
                <a:hlinkClick r:id="rId5"/>
              </a:rPr>
              <a:t>https://github.com/miroslavsiska/Blazor.Samples.git</a:t>
            </a:r>
            <a:r>
              <a:rPr lang="en-US" sz="1400" b="1" dirty="0"/>
              <a:t>” /&gt;</a:t>
            </a:r>
            <a:endParaRPr lang="en-US" sz="1400" dirty="0">
              <a:hlinkClick r:id="rId4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E1F87-EFDC-0388-D55B-95FA64824AB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A06CB-FD3F-6268-37DC-18CB9A56F6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B25796-692D-1989-03E3-B45869F36A1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596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A close-up of a stamp&#10;&#10;AI-generated content may be incorrect.">
            <a:extLst>
              <a:ext uri="{FF2B5EF4-FFF2-40B4-BE49-F238E27FC236}">
                <a16:creationId xmlns:a16="http://schemas.microsoft.com/office/drawing/2014/main" id="{25BF74F1-C478-D42F-8ABF-8DD9D1F7874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" r="3783"/>
          <a:stretch>
            <a:fillRect/>
          </a:stretch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CAAA522-239F-5F88-45CD-93C926ABC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Shrnutí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13B067-E1F3-F45D-BBDF-B8AD46282F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7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15B1A-3818-B788-CA97-9E32205991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1450"/>
            <a:ext cx="431800" cy="131763"/>
          </a:xfrm>
        </p:spPr>
        <p:txBody>
          <a:bodyPr/>
          <a:lstStyle/>
          <a:p>
            <a:fld id="{CF689FB0-066A-489F-A436-57C0882AEA4C}" type="slidenum">
              <a:rPr lang="de-DE" smtClean="0"/>
              <a:pPr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2557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A570D-DB69-4D75-4B4C-284BB4287BD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112D3-FF71-D4E9-E6D3-7529F3ACEB7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D30EF-009B-C0B2-8B18-2534E533E6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39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E841E-6BCB-7A9B-CB47-046C64CD06A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/>
              <a:t>Projekty webConfig a GUI Library</a:t>
            </a:r>
          </a:p>
          <a:p>
            <a:r>
              <a:rPr lang="cs-CZ"/>
              <a:t>Co je framework?</a:t>
            </a:r>
          </a:p>
          <a:p>
            <a:r>
              <a:rPr lang="cs-CZ"/>
              <a:t>ASP.NET Core</a:t>
            </a:r>
          </a:p>
          <a:p>
            <a:r>
              <a:rPr lang="cs-CZ"/>
              <a:t>Blazor = </a:t>
            </a:r>
            <a:r>
              <a:rPr lang="en-US"/>
              <a:t>“B” (browser) + “Razor” (.NET HTML engine)</a:t>
            </a:r>
            <a:endParaRPr lang="cs-CZ"/>
          </a:p>
          <a:p>
            <a:pPr lvl="1"/>
            <a:r>
              <a:rPr lang="cs-CZ"/>
              <a:t>Hostingové modely</a:t>
            </a:r>
          </a:p>
          <a:p>
            <a:pPr lvl="3"/>
            <a:r>
              <a:rPr lang="cs-CZ"/>
              <a:t>Blazor Server</a:t>
            </a:r>
          </a:p>
          <a:p>
            <a:pPr lvl="3"/>
            <a:r>
              <a:rPr lang="cs-CZ"/>
              <a:t>Blazor WebAssembly</a:t>
            </a:r>
          </a:p>
          <a:p>
            <a:pPr lvl="3"/>
            <a:r>
              <a:rPr lang="cs-CZ"/>
              <a:t>Blazor Hybrid</a:t>
            </a:r>
          </a:p>
          <a:p>
            <a:pPr lvl="1"/>
            <a:r>
              <a:rPr lang="cs-CZ"/>
              <a:t>Komponenty a komunikace mezi nimi</a:t>
            </a:r>
          </a:p>
          <a:p>
            <a:pPr lvl="1"/>
            <a:r>
              <a:rPr lang="cs-CZ"/>
              <a:t>Data binding</a:t>
            </a:r>
          </a:p>
          <a:p>
            <a:pPr lvl="1"/>
            <a:r>
              <a:rPr lang="cs-CZ"/>
              <a:t>Event handling</a:t>
            </a:r>
          </a:p>
          <a:p>
            <a:pPr lvl="1"/>
            <a:r>
              <a:rPr lang="cs-CZ"/>
              <a:t>Dependancy injection</a:t>
            </a:r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441C6B-6E03-4FAA-4406-8BB6A4E7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Shrnutí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93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132BE-3039-18B9-1273-AB9E264F650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26.11.2025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89A64-12DD-07AC-C7A6-0D4AFE0E398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Projekt webConfig: .NET a framework Blazor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D4C63-992A-A0E7-0EF1-564A78A7944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F689FB0-066A-489F-A436-57C0882AEA4C}" type="slidenum">
              <a:rPr lang="de-DE" smtClean="0"/>
              <a:pPr/>
              <a:t>40</a:t>
            </a:fld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E2988D-4398-EADA-ECC3-CF114FE334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cs-CZ"/>
              <a:t>V Plzni-Lobzích, Ostravě a Českých Budějovicích</a:t>
            </a:r>
          </a:p>
          <a:p>
            <a:r>
              <a:rPr lang="cs-CZ"/>
              <a:t>Na </a:t>
            </a:r>
            <a:r>
              <a:rPr lang="cs-CZ">
                <a:hlinkClick r:id="rId3"/>
              </a:rPr>
              <a:t>www.posouvamehranice.cz</a:t>
            </a:r>
            <a:endParaRPr lang="cs-CZ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138E9A9-49A4-207D-2599-B23B2B307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Kde nás najdete? 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BCFB1-C358-5497-2382-E01758878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600" y="2340754"/>
            <a:ext cx="3607200" cy="361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79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6A7B0C-172A-A8FA-B059-FC124F60FA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05550" y="3896138"/>
            <a:ext cx="4639116" cy="287338"/>
          </a:xfrm>
        </p:spPr>
        <p:txBody>
          <a:bodyPr/>
          <a:lstStyle/>
          <a:p>
            <a:r>
              <a:rPr lang="cs-CZ"/>
              <a:t>Miroslav Šiška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B26C8C-95A6-CBB5-53C1-A713E2FA16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05550" y="4221576"/>
            <a:ext cx="4639116" cy="287338"/>
          </a:xfrm>
        </p:spPr>
        <p:txBody>
          <a:bodyPr/>
          <a:lstStyle/>
          <a:p>
            <a:r>
              <a:rPr lang="cs-CZ"/>
              <a:t>Software Developer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5124BE-BF69-8B2C-D0CE-5A5A53CF3F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5550" y="4514301"/>
            <a:ext cx="4639116" cy="287338"/>
          </a:xfrm>
        </p:spPr>
        <p:txBody>
          <a:bodyPr/>
          <a:lstStyle/>
          <a:p>
            <a:r>
              <a:rPr lang="cs-CZ"/>
              <a:t>miroslav.siska@leuze.com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4CA15-E1D4-D114-BB09-9F141046E2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1450"/>
            <a:ext cx="431800" cy="131763"/>
          </a:xfrm>
        </p:spPr>
        <p:txBody>
          <a:bodyPr/>
          <a:lstStyle/>
          <a:p>
            <a:fld id="{CF689FB0-066A-489F-A436-57C0882AEA4C}" type="slidenum">
              <a:rPr lang="de-DE" smtClean="0"/>
              <a:pPr/>
              <a:t>41</a:t>
            </a:fld>
            <a:endParaRPr lang="de-DE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06C419D-2C61-8FE7-0873-4DB298DC8334}"/>
              </a:ext>
            </a:extLst>
          </p:cNvPr>
          <p:cNvSpPr txBox="1">
            <a:spLocks/>
          </p:cNvSpPr>
          <p:nvPr/>
        </p:nvSpPr>
        <p:spPr bwMode="gray">
          <a:xfrm>
            <a:off x="6305550" y="2142153"/>
            <a:ext cx="4639116" cy="287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/>
              <a:t>Pavel Špatenka</a:t>
            </a:r>
            <a:endParaRPr lang="en-US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91EC1AE-DB13-F3AE-B1DF-4EA85D370CCE}"/>
              </a:ext>
            </a:extLst>
          </p:cNvPr>
          <p:cNvSpPr txBox="1">
            <a:spLocks/>
          </p:cNvSpPr>
          <p:nvPr/>
        </p:nvSpPr>
        <p:spPr bwMode="gray">
          <a:xfrm>
            <a:off x="6305550" y="2467591"/>
            <a:ext cx="4639116" cy="287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/>
              <a:t>Team Leader</a:t>
            </a:r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955DCFB-7FA9-E44F-A774-8853E2DAA792}"/>
              </a:ext>
            </a:extLst>
          </p:cNvPr>
          <p:cNvSpPr txBox="1">
            <a:spLocks/>
          </p:cNvSpPr>
          <p:nvPr/>
        </p:nvSpPr>
        <p:spPr bwMode="gray">
          <a:xfrm>
            <a:off x="6305550" y="2760316"/>
            <a:ext cx="4639116" cy="28733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914400" rtl="0" eaLnBrk="1" latinLnBrk="0" hangingPunct="1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/>
              <a:t>pavel.spatenka@leuze.com 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99F112E-3D06-E98E-3683-45A5C6E362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31709" y="2434599"/>
            <a:ext cx="4648391" cy="889474"/>
          </a:xfrm>
        </p:spPr>
        <p:txBody>
          <a:bodyPr/>
          <a:lstStyle/>
          <a:p>
            <a:r>
              <a:rPr lang="cs-CZ"/>
              <a:t>Děkujeme </a:t>
            </a:r>
            <a:br>
              <a:rPr lang="cs-CZ"/>
            </a:br>
            <a:r>
              <a:rPr lang="cs-CZ"/>
              <a:t>za pozornost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07826"/>
      </p:ext>
    </p:extLst>
  </p:cSld>
  <p:clrMapOvr>
    <a:masterClrMapping/>
  </p:clrMapOvr>
</p:sld>
</file>

<file path=ppt/theme/theme1.xml><?xml version="1.0" encoding="utf-8"?>
<a:theme xmlns:a="http://schemas.openxmlformats.org/drawingml/2006/main" name="Leuze">
  <a:themeElements>
    <a:clrScheme name="Benutzerdefiniert 141">
      <a:dk1>
        <a:srgbClr val="000000"/>
      </a:dk1>
      <a:lt1>
        <a:srgbClr val="FFFFFF"/>
      </a:lt1>
      <a:dk2>
        <a:srgbClr val="7F7F7F"/>
      </a:dk2>
      <a:lt2>
        <a:srgbClr val="F2F2F2"/>
      </a:lt2>
      <a:accent1>
        <a:srgbClr val="E30613"/>
      </a:accent1>
      <a:accent2>
        <a:srgbClr val="8AB5E1"/>
      </a:accent2>
      <a:accent3>
        <a:srgbClr val="9D9D9D"/>
      </a:accent3>
      <a:accent4>
        <a:srgbClr val="707070"/>
      </a:accent4>
      <a:accent5>
        <a:srgbClr val="C6C6C6"/>
      </a:accent5>
      <a:accent6>
        <a:srgbClr val="F2F2F2"/>
      </a:accent6>
      <a:hlink>
        <a:srgbClr val="E30613"/>
      </a:hlink>
      <a:folHlink>
        <a:srgbClr val="E3061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marL="216000" indent="-216000" algn="l">
          <a:lnSpc>
            <a:spcPct val="118000"/>
          </a:lnSpc>
          <a:spcAft>
            <a:spcPts val="200"/>
          </a:spcAft>
          <a:buClr>
            <a:schemeClr val="accent1"/>
          </a:buClr>
          <a:buFont typeface="Arial" panose="020B0604020202020204" pitchFamily="34" charset="0"/>
          <a:buChar char="–"/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16000" indent="-216000" algn="l">
          <a:lnSpc>
            <a:spcPct val="118000"/>
          </a:lnSpc>
          <a:spcAft>
            <a:spcPts val="200"/>
          </a:spcAft>
          <a:buClr>
            <a:schemeClr val="accent1"/>
          </a:buClr>
          <a:buFont typeface="Arial" panose="020B0604020202020204" pitchFamily="34" charset="0"/>
          <a:buChar char="–"/>
          <a:defRPr dirty="0" smtClean="0"/>
        </a:defPPr>
      </a:lstStyle>
    </a:txDef>
  </a:objectDefaults>
  <a:extraClrSchemeLst/>
  <a:custClrLst>
    <a:custClr>
      <a:srgbClr val="B61032"/>
    </a:custClr>
    <a:custClr>
      <a:srgbClr val="EF7D00"/>
    </a:custClr>
    <a:custClr>
      <a:srgbClr val="FFE500"/>
    </a:custClr>
  </a:custClrLst>
  <a:extLst>
    <a:ext uri="{05A4C25C-085E-4340-85A3-A5531E510DB2}">
      <thm15:themeFamily xmlns:thm15="http://schemas.microsoft.com/office/thememl/2012/main" name="Leuze_PowerPoint_16x9_08_DE.POTX.pptx" id="{0CA0D109-1B26-4A71-9117-04459A818D29}" vid="{E28F9603-C238-4B01-BFF5-F146A28E5E94}"/>
    </a:ext>
  </a:extLst>
</a:theme>
</file>

<file path=ppt/theme/theme2.xml><?xml version="1.0" encoding="utf-8"?>
<a:theme xmlns:a="http://schemas.openxmlformats.org/drawingml/2006/main" name="Office">
  <a:themeElements>
    <a:clrScheme name="Benutzerdefiniert 141">
      <a:dk1>
        <a:srgbClr val="000000"/>
      </a:dk1>
      <a:lt1>
        <a:srgbClr val="FFFFFF"/>
      </a:lt1>
      <a:dk2>
        <a:srgbClr val="7F7F7F"/>
      </a:dk2>
      <a:lt2>
        <a:srgbClr val="F2F2F2"/>
      </a:lt2>
      <a:accent1>
        <a:srgbClr val="E30613"/>
      </a:accent1>
      <a:accent2>
        <a:srgbClr val="8AB5E1"/>
      </a:accent2>
      <a:accent3>
        <a:srgbClr val="9D9D9D"/>
      </a:accent3>
      <a:accent4>
        <a:srgbClr val="707070"/>
      </a:accent4>
      <a:accent5>
        <a:srgbClr val="C6C6C6"/>
      </a:accent5>
      <a:accent6>
        <a:srgbClr val="F2F2F2"/>
      </a:accent6>
      <a:hlink>
        <a:srgbClr val="E30613"/>
      </a:hlink>
      <a:folHlink>
        <a:srgbClr val="E30613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141">
      <a:dk1>
        <a:srgbClr val="000000"/>
      </a:dk1>
      <a:lt1>
        <a:srgbClr val="FFFFFF"/>
      </a:lt1>
      <a:dk2>
        <a:srgbClr val="7F7F7F"/>
      </a:dk2>
      <a:lt2>
        <a:srgbClr val="F2F2F2"/>
      </a:lt2>
      <a:accent1>
        <a:srgbClr val="E30613"/>
      </a:accent1>
      <a:accent2>
        <a:srgbClr val="8AB5E1"/>
      </a:accent2>
      <a:accent3>
        <a:srgbClr val="9D9D9D"/>
      </a:accent3>
      <a:accent4>
        <a:srgbClr val="707070"/>
      </a:accent4>
      <a:accent5>
        <a:srgbClr val="C6C6C6"/>
      </a:accent5>
      <a:accent6>
        <a:srgbClr val="F2F2F2"/>
      </a:accent6>
      <a:hlink>
        <a:srgbClr val="E30613"/>
      </a:hlink>
      <a:folHlink>
        <a:srgbClr val="E30613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93061017D9CA4DBE48AA30E3593476" ma:contentTypeVersion="10" ma:contentTypeDescription="Ein neues Dokument erstellen." ma:contentTypeScope="" ma:versionID="05063dc25a11c26c0b7c805e626e1971">
  <xsd:schema xmlns:xsd="http://www.w3.org/2001/XMLSchema" xmlns:xs="http://www.w3.org/2001/XMLSchema" xmlns:p="http://schemas.microsoft.com/office/2006/metadata/properties" xmlns:ns2="d5e6aead-396c-4f1d-964b-6848ffb4cd01" xmlns:ns3="56d02b9a-c664-4a9a-a05b-b96caca6ff3d" targetNamespace="http://schemas.microsoft.com/office/2006/metadata/properties" ma:root="true" ma:fieldsID="c57a2d7314f1a1e2e13dc8632c16189f" ns2:_="" ns3:_="">
    <xsd:import namespace="d5e6aead-396c-4f1d-964b-6848ffb4cd01"/>
    <xsd:import namespace="56d02b9a-c664-4a9a-a05b-b96caca6ff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e6aead-396c-4f1d-964b-6848ffb4cd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d02b9a-c664-4a9a-a05b-b96caca6ff3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4114B5-9AAB-4A58-ACF0-D097B62664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B3FD7D-9E5D-4DD5-A14D-0A58A9E989E0}">
  <ds:schemaRefs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d5e6aead-396c-4f1d-964b-6848ffb4cd01"/>
    <ds:schemaRef ds:uri="http://schemas.microsoft.com/office/infopath/2007/PartnerControls"/>
    <ds:schemaRef ds:uri="56d02b9a-c664-4a9a-a05b-b96caca6ff3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D6FD537-92B9-4D2A-9F05-0DB6B9A18409}">
  <ds:schemaRefs>
    <ds:schemaRef ds:uri="56d02b9a-c664-4a9a-a05b-b96caca6ff3d"/>
    <ds:schemaRef ds:uri="d5e6aead-396c-4f1d-964b-6848ffb4cd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2089</Words>
  <Application>Microsoft Office PowerPoint</Application>
  <PresentationFormat>Widescreen</PresentationFormat>
  <Paragraphs>423</Paragraphs>
  <Slides>41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Symbol</vt:lpstr>
      <vt:lpstr>Leuze</vt:lpstr>
      <vt:lpstr>Projekt webConfig:</vt:lpstr>
      <vt:lpstr>Představení</vt:lpstr>
      <vt:lpstr>Agenda</vt:lpstr>
      <vt:lpstr>Leuze webConfig</vt:lpstr>
      <vt:lpstr>Leuze webConfig</vt:lpstr>
      <vt:lpstr>Legacy webConfig</vt:lpstr>
      <vt:lpstr>webConfig NextGen</vt:lpstr>
      <vt:lpstr>Leuze webConfig - integrace</vt:lpstr>
      <vt:lpstr>Technologie</vt:lpstr>
      <vt:lpstr>GUI Library</vt:lpstr>
      <vt:lpstr>GUI knihovna a kitchen sink</vt:lpstr>
      <vt:lpstr>Programovací jazyky - úvod</vt:lpstr>
      <vt:lpstr>Programovací jazyky</vt:lpstr>
      <vt:lpstr>Programovací jazyky</vt:lpstr>
      <vt:lpstr>Programovací jazyky – dle oblíbenosti 2025</vt:lpstr>
      <vt:lpstr>Framework</vt:lpstr>
      <vt:lpstr>Frameworky</vt:lpstr>
      <vt:lpstr>ASP.NET Core</vt:lpstr>
      <vt:lpstr>ASP.NET Core</vt:lpstr>
      <vt:lpstr>Co je Blazor?</vt:lpstr>
      <vt:lpstr>Co je Blazor</vt:lpstr>
      <vt:lpstr>Blazor – původ názvu a loga</vt:lpstr>
      <vt:lpstr>Blazor – jak vlastně funguje?</vt:lpstr>
      <vt:lpstr>Blazor - hostingové modely</vt:lpstr>
      <vt:lpstr>Blazor – komponenty – návrh</vt:lpstr>
      <vt:lpstr>Blazor – komponenty - RCL</vt:lpstr>
      <vt:lpstr>Blazor – stavový management</vt:lpstr>
      <vt:lpstr>Blazor - komunikace mezi komponentami</vt:lpstr>
      <vt:lpstr>Blazor - komunikace mezi komponentami</vt:lpstr>
      <vt:lpstr>Blazor - data binding</vt:lpstr>
      <vt:lpstr>Blazor – obsluha událostí (event handling)</vt:lpstr>
      <vt:lpstr>Blazor – dependency injection</vt:lpstr>
      <vt:lpstr>Blazor – component disposal</vt:lpstr>
      <vt:lpstr>Blazor – stylování komponent</vt:lpstr>
      <vt:lpstr>Blazor – závěr</vt:lpstr>
      <vt:lpstr>Blazor – kde začít</vt:lpstr>
      <vt:lpstr>Kód pro Visual studio 2022 / 2026</vt:lpstr>
      <vt:lpstr>Shrnutí</vt:lpstr>
      <vt:lpstr>Shrnutí</vt:lpstr>
      <vt:lpstr>Kde nás najdete?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Špatenka, Pavel</dc:creator>
  <cp:lastModifiedBy>Siska, Miroslav</cp:lastModifiedBy>
  <cp:revision>2</cp:revision>
  <cp:lastPrinted>2019-06-13T08:55:42Z</cp:lastPrinted>
  <dcterms:created xsi:type="dcterms:W3CDTF">2025-11-18T12:14:14Z</dcterms:created>
  <dcterms:modified xsi:type="dcterms:W3CDTF">2025-11-25T10:52:23Z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0x0101004F93061017D9CA4DBE48AA30E3593476</vt:lpwstr>
  </property>
</Properties>
</file>